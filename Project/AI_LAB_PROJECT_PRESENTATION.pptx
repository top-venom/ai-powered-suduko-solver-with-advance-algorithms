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4" r:id="rId4"/>
    <p:sldId id="258" r:id="rId5"/>
    <p:sldId id="270" r:id="rId6"/>
    <p:sldId id="259" r:id="rId7"/>
    <p:sldId id="260" r:id="rId8"/>
    <p:sldId id="261" r:id="rId9"/>
    <p:sldId id="271" r:id="rId10"/>
    <p:sldId id="262" r:id="rId11"/>
    <p:sldId id="269" r:id="rId12"/>
    <p:sldId id="263" r:id="rId13"/>
    <p:sldId id="264" r:id="rId14"/>
    <p:sldId id="272" r:id="rId15"/>
    <p:sldId id="265" r:id="rId16"/>
    <p:sldId id="273" r:id="rId17"/>
    <p:sldId id="266" r:id="rId18"/>
    <p:sldId id="268" r:id="rId19"/>
  </p:sldIdLst>
  <p:sldSz cx="18288000" cy="10287000"/>
  <p:notesSz cx="6858000" cy="9144000"/>
  <p:embeddedFontLst>
    <p:embeddedFont>
      <p:font typeface="Inter Medium" panose="020B0604020202020204" charset="0"/>
      <p:regular r:id="rId20"/>
      <p:italic r:id="rId21"/>
    </p:embeddedFont>
    <p:embeddedFont>
      <p:font typeface="Lato" panose="020F0502020204030203" pitchFamily="34" charset="0"/>
      <p:regular r:id="rId22"/>
    </p:embeddedFont>
    <p:embeddedFont>
      <p:font typeface="Lato Bold" panose="020B0604020202020204" charset="0"/>
      <p:regular r:id="rId23"/>
    </p:embeddedFont>
    <p:embeddedFont>
      <p:font typeface="Poppins" panose="00000500000000000000" pitchFamily="2" charset="0"/>
      <p:regular r:id="rId24"/>
    </p:embeddedFont>
    <p:embeddedFont>
      <p:font typeface="Poppins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3027596" cy="995428"/>
            <a:chOff x="0" y="0"/>
            <a:chExt cx="797392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7392" cy="262170"/>
            </a:xfrm>
            <a:custGeom>
              <a:avLst/>
              <a:gdLst/>
              <a:ahLst/>
              <a:cxnLst/>
              <a:rect l="l" t="t" r="r" b="b"/>
              <a:pathLst>
                <a:path w="797392" h="262170">
                  <a:moveTo>
                    <a:pt x="131085" y="0"/>
                  </a:moveTo>
                  <a:lnTo>
                    <a:pt x="666306" y="0"/>
                  </a:lnTo>
                  <a:cubicBezTo>
                    <a:pt x="738703" y="0"/>
                    <a:pt x="797392" y="58689"/>
                    <a:pt x="797392" y="131085"/>
                  </a:cubicBezTo>
                  <a:lnTo>
                    <a:pt x="797392" y="131085"/>
                  </a:lnTo>
                  <a:cubicBezTo>
                    <a:pt x="797392" y="203481"/>
                    <a:pt x="738703" y="262170"/>
                    <a:pt x="666306" y="262170"/>
                  </a:cubicBezTo>
                  <a:lnTo>
                    <a:pt x="131085" y="262170"/>
                  </a:lnTo>
                  <a:cubicBezTo>
                    <a:pt x="58689" y="262170"/>
                    <a:pt x="0" y="203481"/>
                    <a:pt x="0" y="131085"/>
                  </a:cubicBezTo>
                  <a:lnTo>
                    <a:pt x="0" y="131085"/>
                  </a:lnTo>
                  <a:cubicBezTo>
                    <a:pt x="0" y="58689"/>
                    <a:pt x="58689" y="0"/>
                    <a:pt x="1310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97392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71305" y="879197"/>
            <a:ext cx="528429" cy="528429"/>
          </a:xfrm>
          <a:custGeom>
            <a:avLst/>
            <a:gdLst/>
            <a:ahLst/>
            <a:cxnLst/>
            <a:rect l="l" t="t" r="r" b="b"/>
            <a:pathLst>
              <a:path w="528429" h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TextBox 6"/>
          <p:cNvSpPr txBox="1"/>
          <p:nvPr/>
        </p:nvSpPr>
        <p:spPr>
          <a:xfrm>
            <a:off x="928665" y="2413563"/>
            <a:ext cx="11411477" cy="4222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SUDUKO </a:t>
            </a:r>
          </a:p>
          <a:p>
            <a:pPr algn="l">
              <a:lnSpc>
                <a:spcPts val="15959"/>
              </a:lnSpc>
            </a:pPr>
            <a:r>
              <a:rPr lang="en-US" sz="14508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96669" y="882426"/>
            <a:ext cx="375516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GROUP 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8665" y="7164321"/>
            <a:ext cx="5064918" cy="1603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2887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PRESENT BY:</a:t>
            </a:r>
          </a:p>
          <a:p>
            <a:pPr algn="l">
              <a:lnSpc>
                <a:spcPts val="2922"/>
              </a:lnSpc>
            </a:pPr>
            <a:r>
              <a:rPr lang="en-US" sz="2087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ABDULLAH MAJEED</a:t>
            </a:r>
          </a:p>
          <a:p>
            <a:pPr algn="l">
              <a:lnSpc>
                <a:spcPts val="2922"/>
              </a:lnSpc>
            </a:pPr>
            <a:r>
              <a:rPr lang="en-US" sz="2087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SYED TURRAB HAIDER </a:t>
            </a:r>
          </a:p>
          <a:p>
            <a:pPr algn="l">
              <a:lnSpc>
                <a:spcPts val="2922"/>
              </a:lnSpc>
              <a:spcBef>
                <a:spcPct val="0"/>
              </a:spcBef>
            </a:pPr>
            <a:r>
              <a:rPr lang="en-US" sz="2087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SYED YOUSAF RASHEED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06852" y="7605416"/>
            <a:ext cx="3863157" cy="37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106852" y="7987265"/>
            <a:ext cx="3701778" cy="37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106852" y="8369114"/>
            <a:ext cx="4313086" cy="37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9578" y="2715092"/>
            <a:ext cx="6086976" cy="58534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42318" flipV="1">
            <a:off x="12037037" y="-95437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3" name="Group 3"/>
          <p:cNvGrpSpPr/>
          <p:nvPr/>
        </p:nvGrpSpPr>
        <p:grpSpPr>
          <a:xfrm>
            <a:off x="725985" y="3328464"/>
            <a:ext cx="15148103" cy="6232551"/>
            <a:chOff x="0" y="0"/>
            <a:chExt cx="3989624" cy="16414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89624" cy="1641495"/>
            </a:xfrm>
            <a:custGeom>
              <a:avLst/>
              <a:gdLst/>
              <a:ahLst/>
              <a:cxnLst/>
              <a:rect l="l" t="t" r="r" b="b"/>
              <a:pathLst>
                <a:path w="3989624" h="1641495">
                  <a:moveTo>
                    <a:pt x="10222" y="0"/>
                  </a:moveTo>
                  <a:lnTo>
                    <a:pt x="3979402" y="0"/>
                  </a:lnTo>
                  <a:cubicBezTo>
                    <a:pt x="3982113" y="0"/>
                    <a:pt x="3984713" y="1077"/>
                    <a:pt x="3986630" y="2994"/>
                  </a:cubicBezTo>
                  <a:cubicBezTo>
                    <a:pt x="3988546" y="4911"/>
                    <a:pt x="3989624" y="7511"/>
                    <a:pt x="3989624" y="10222"/>
                  </a:cubicBezTo>
                  <a:lnTo>
                    <a:pt x="3989624" y="1631273"/>
                  </a:lnTo>
                  <a:cubicBezTo>
                    <a:pt x="3989624" y="1633984"/>
                    <a:pt x="3988546" y="1636584"/>
                    <a:pt x="3986630" y="1638501"/>
                  </a:cubicBezTo>
                  <a:cubicBezTo>
                    <a:pt x="3984713" y="1640418"/>
                    <a:pt x="3982113" y="1641495"/>
                    <a:pt x="3979402" y="1641495"/>
                  </a:cubicBezTo>
                  <a:lnTo>
                    <a:pt x="10222" y="1641495"/>
                  </a:lnTo>
                  <a:cubicBezTo>
                    <a:pt x="7511" y="1641495"/>
                    <a:pt x="4911" y="1640418"/>
                    <a:pt x="2994" y="1638501"/>
                  </a:cubicBezTo>
                  <a:cubicBezTo>
                    <a:pt x="1077" y="1636584"/>
                    <a:pt x="0" y="1633984"/>
                    <a:pt x="0" y="1631273"/>
                  </a:cubicBezTo>
                  <a:lnTo>
                    <a:pt x="0" y="10222"/>
                  </a:lnTo>
                  <a:cubicBezTo>
                    <a:pt x="0" y="7511"/>
                    <a:pt x="1077" y="4911"/>
                    <a:pt x="2994" y="2994"/>
                  </a:cubicBezTo>
                  <a:cubicBezTo>
                    <a:pt x="4911" y="1077"/>
                    <a:pt x="7511" y="0"/>
                    <a:pt x="10222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989624" cy="1679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147874" y="7962921"/>
            <a:ext cx="5747719" cy="3384081"/>
          </a:xfrm>
          <a:custGeom>
            <a:avLst/>
            <a:gdLst/>
            <a:ahLst/>
            <a:cxnLst/>
            <a:rect l="l" t="t" r="r" b="b"/>
            <a:pathLst>
              <a:path w="5747719" h="3384081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b="-143185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TextBox 7"/>
          <p:cNvSpPr txBox="1"/>
          <p:nvPr/>
        </p:nvSpPr>
        <p:spPr>
          <a:xfrm>
            <a:off x="725985" y="713019"/>
            <a:ext cx="7273915" cy="105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24052" y="3934895"/>
            <a:ext cx="544164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5526" y="3934895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4052" y="5073670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System Architecture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5526" y="5073670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24052" y="6210320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5526" y="6210320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4052" y="7346970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CSP - AC3 Algorithm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5526" y="7346970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24052" y="8483621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CSP - MRV Heuristic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5526" y="8483621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21293" y="3935958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Puzzle Generation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22767" y="3935958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21293" y="5074733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Hint &amp; Warnings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22767" y="5074733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1293" y="6211383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Data Layers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22767" y="6211383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21293" y="7348033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File Handling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22767" y="7348033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21293" y="8484683"/>
            <a:ext cx="5441644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Conclusions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22767" y="8484683"/>
            <a:ext cx="4445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3027596" cy="995428"/>
            <a:chOff x="0" y="0"/>
            <a:chExt cx="797392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7392" cy="262170"/>
            </a:xfrm>
            <a:custGeom>
              <a:avLst/>
              <a:gdLst/>
              <a:ahLst/>
              <a:cxnLst/>
              <a:rect l="l" t="t" r="r" b="b"/>
              <a:pathLst>
                <a:path w="797392" h="262170">
                  <a:moveTo>
                    <a:pt x="131085" y="0"/>
                  </a:moveTo>
                  <a:lnTo>
                    <a:pt x="666306" y="0"/>
                  </a:lnTo>
                  <a:cubicBezTo>
                    <a:pt x="738703" y="0"/>
                    <a:pt x="797392" y="58689"/>
                    <a:pt x="797392" y="131085"/>
                  </a:cubicBezTo>
                  <a:lnTo>
                    <a:pt x="797392" y="131085"/>
                  </a:lnTo>
                  <a:cubicBezTo>
                    <a:pt x="797392" y="203481"/>
                    <a:pt x="738703" y="262170"/>
                    <a:pt x="666306" y="262170"/>
                  </a:cubicBezTo>
                  <a:lnTo>
                    <a:pt x="131085" y="262170"/>
                  </a:lnTo>
                  <a:cubicBezTo>
                    <a:pt x="58689" y="262170"/>
                    <a:pt x="0" y="203481"/>
                    <a:pt x="0" y="131085"/>
                  </a:cubicBezTo>
                  <a:lnTo>
                    <a:pt x="0" y="131085"/>
                  </a:lnTo>
                  <a:cubicBezTo>
                    <a:pt x="0" y="58689"/>
                    <a:pt x="58689" y="0"/>
                    <a:pt x="1310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97392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71305" y="879197"/>
            <a:ext cx="528429" cy="528429"/>
          </a:xfrm>
          <a:custGeom>
            <a:avLst/>
            <a:gdLst/>
            <a:ahLst/>
            <a:cxnLst/>
            <a:rect l="l" t="t" r="r" b="b"/>
            <a:pathLst>
              <a:path w="528429" h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TextBox 6"/>
          <p:cNvSpPr txBox="1"/>
          <p:nvPr/>
        </p:nvSpPr>
        <p:spPr>
          <a:xfrm>
            <a:off x="928665" y="2413563"/>
            <a:ext cx="14692335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96669" y="882426"/>
            <a:ext cx="375516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GROUP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64" y="5524104"/>
            <a:ext cx="145399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2800" dirty="0">
                <a:solidFill>
                  <a:schemeClr val="bg1"/>
                </a:solidFill>
                <a:latin typeface="+mj-lt"/>
              </a:rPr>
              <a:t>Sudoku is a 9 x 9 grid that requires filling every cell with numbers 1 to 9 while satisfying strict constraints. </a:t>
            </a:r>
          </a:p>
          <a:p>
            <a:pPr lvl="0"/>
            <a:endParaRPr lang="en-US" altLang="en-US" sz="2800" dirty="0">
              <a:solidFill>
                <a:schemeClr val="bg1"/>
              </a:solidFill>
              <a:latin typeface="+mj-lt"/>
            </a:endParaRPr>
          </a:p>
          <a:p>
            <a:pPr lvl="0"/>
            <a:r>
              <a:rPr lang="en-US" altLang="en-US" sz="2800" dirty="0">
                <a:solidFill>
                  <a:schemeClr val="bg1"/>
                </a:solidFill>
                <a:latin typeface="+mj-lt"/>
              </a:rPr>
              <a:t>The real goal of our project was to move beyond simple brute force and build an AI that solves the puzzle using </a:t>
            </a:r>
            <a:r>
              <a:rPr lang="en-US" altLang="en-US" sz="2800" i="1" dirty="0">
                <a:solidFill>
                  <a:schemeClr val="bg1"/>
                </a:solidFill>
                <a:latin typeface="+mj-lt"/>
              </a:rPr>
              <a:t>logic</a:t>
            </a:r>
            <a:r>
              <a:rPr lang="en-US" altLang="en-US" sz="280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altLang="en-US" sz="2800" i="1" dirty="0">
                <a:solidFill>
                  <a:schemeClr val="bg1"/>
                </a:solidFill>
                <a:latin typeface="+mj-lt"/>
              </a:rPr>
              <a:t>constraints</a:t>
            </a:r>
            <a:r>
              <a:rPr lang="en-US" altLang="en-US" sz="2800" dirty="0">
                <a:solidFill>
                  <a:schemeClr val="bg1"/>
                </a:solidFill>
                <a:latin typeface="+mj-lt"/>
              </a:rPr>
              <a:t>, and </a:t>
            </a:r>
            <a:r>
              <a:rPr lang="en-US" altLang="en-US" sz="2800" i="1" dirty="0">
                <a:solidFill>
                  <a:schemeClr val="bg1"/>
                </a:solidFill>
                <a:latin typeface="+mj-lt"/>
              </a:rPr>
              <a:t>human-like deduction</a:t>
            </a:r>
            <a:r>
              <a:rPr lang="en-US" altLang="en-US" sz="28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9023" cy="179523"/>
            </a:xfrm>
            <a:custGeom>
              <a:avLst/>
              <a:gdLst/>
              <a:ahLst/>
              <a:cxnLst/>
              <a:rect l="l" t="t" r="r" b="b"/>
              <a:pathLst>
                <a:path w="2299023" h="1795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4588" y="92678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Freeform 6"/>
          <p:cNvSpPr/>
          <p:nvPr/>
        </p:nvSpPr>
        <p:spPr>
          <a:xfrm>
            <a:off x="8574588" y="401004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8574588" y="7505560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8"/>
          <p:cNvSpPr/>
          <p:nvPr/>
        </p:nvSpPr>
        <p:spPr>
          <a:xfrm rot="10435729">
            <a:off x="-2756685" y="4566055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2"/>
                </a:lnTo>
                <a:lnTo>
                  <a:pt x="0" y="8527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9" name="TextBox 9"/>
          <p:cNvSpPr txBox="1"/>
          <p:nvPr/>
        </p:nvSpPr>
        <p:spPr>
          <a:xfrm>
            <a:off x="9798106" y="869632"/>
            <a:ext cx="5199649" cy="43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Logic over Brute Force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98106" y="1631944"/>
            <a:ext cx="7461194" cy="737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Develop a game that uses human-like constraint logic rather than blind guessing, focusing on intelligent problem-solving.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3" y="1483464"/>
            <a:ext cx="5853180" cy="176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GOALS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8106" y="3995893"/>
            <a:ext cx="5199649" cy="43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Mathematical Validity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98106" y="4755988"/>
            <a:ext cx="7461194" cy="110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Ensure every generated puzzle has exactly one unique solution, guaranteeing a fair and solvable challenge.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98106" y="7491412"/>
            <a:ext cx="5199649" cy="43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Educational Value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98106" y="8251507"/>
            <a:ext cx="7461194" cy="110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Lower the learning curve for users by providing context-aware hints and logic warnings, fostering skill development.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9023" cy="179523"/>
            </a:xfrm>
            <a:custGeom>
              <a:avLst/>
              <a:gdLst/>
              <a:ahLst/>
              <a:cxnLst/>
              <a:rect l="l" t="t" r="r" b="b"/>
              <a:pathLst>
                <a:path w="2299023" h="1795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4588" y="92678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Freeform 6"/>
          <p:cNvSpPr/>
          <p:nvPr/>
        </p:nvSpPr>
        <p:spPr>
          <a:xfrm>
            <a:off x="8574588" y="401004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8574588" y="7505560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8"/>
          <p:cNvSpPr/>
          <p:nvPr/>
        </p:nvSpPr>
        <p:spPr>
          <a:xfrm rot="10435729">
            <a:off x="-2756685" y="4566055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2"/>
                </a:lnTo>
                <a:lnTo>
                  <a:pt x="0" y="8527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9" name="TextBox 9"/>
          <p:cNvSpPr txBox="1"/>
          <p:nvPr/>
        </p:nvSpPr>
        <p:spPr>
          <a:xfrm>
            <a:off x="9798106" y="869632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LIBRARIES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98106" y="1631944"/>
            <a:ext cx="7461194" cy="185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PyGame</a:t>
            </a: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Time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DateTime</a:t>
            </a: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Json</a:t>
            </a: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DeQue</a:t>
            </a: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9203" y="1483464"/>
            <a:ext cx="5853180" cy="169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8106" y="3995893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ALGORITHMS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98106" y="4755988"/>
            <a:ext cx="7461194" cy="26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CSP</a:t>
            </a:r>
            <a:b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1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MiniMax</a:t>
            </a: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Minimum Remaining Values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Heuristics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AC-3 Algorithm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Iterative DFS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98106" y="7491412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98106" y="8251507"/>
            <a:ext cx="7461194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PyCharm</a:t>
            </a: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 &amp;  </a:t>
            </a:r>
            <a:r>
              <a:rPr lang="en-US" sz="21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VsCode</a:t>
            </a: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5755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844491" y="-3015084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 rot="5400000">
            <a:off x="14011079" y="-2759658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Freeform 4"/>
          <p:cNvSpPr/>
          <p:nvPr/>
        </p:nvSpPr>
        <p:spPr>
          <a:xfrm>
            <a:off x="760535" y="4910099"/>
            <a:ext cx="705511" cy="722674"/>
          </a:xfrm>
          <a:custGeom>
            <a:avLst/>
            <a:gdLst/>
            <a:ahLst/>
            <a:cxnLst/>
            <a:rect l="l" t="t" r="r" b="b"/>
            <a:pathLst>
              <a:path w="705511" h="722674">
                <a:moveTo>
                  <a:pt x="0" y="0"/>
                </a:moveTo>
                <a:lnTo>
                  <a:pt x="705510" y="0"/>
                </a:lnTo>
                <a:lnTo>
                  <a:pt x="705510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Freeform 5"/>
          <p:cNvSpPr/>
          <p:nvPr/>
        </p:nvSpPr>
        <p:spPr>
          <a:xfrm>
            <a:off x="760535" y="4910099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Freeform 6"/>
          <p:cNvSpPr/>
          <p:nvPr/>
        </p:nvSpPr>
        <p:spPr>
          <a:xfrm>
            <a:off x="6777204" y="4910099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7135831" y="4682845"/>
            <a:ext cx="1256063" cy="1359911"/>
          </a:xfrm>
          <a:custGeom>
            <a:avLst/>
            <a:gdLst/>
            <a:ahLst/>
            <a:cxnLst/>
            <a:rect l="l" t="t" r="r" b="b"/>
            <a:pathLst>
              <a:path w="1256063" h="1359911">
                <a:moveTo>
                  <a:pt x="0" y="0"/>
                </a:moveTo>
                <a:lnTo>
                  <a:pt x="1256063" y="0"/>
                </a:lnTo>
                <a:lnTo>
                  <a:pt x="1256063" y="1359911"/>
                </a:lnTo>
                <a:lnTo>
                  <a:pt x="0" y="13599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8"/>
          <p:cNvSpPr/>
          <p:nvPr/>
        </p:nvSpPr>
        <p:spPr>
          <a:xfrm>
            <a:off x="1263073" y="4682845"/>
            <a:ext cx="1359911" cy="1359911"/>
          </a:xfrm>
          <a:custGeom>
            <a:avLst/>
            <a:gdLst/>
            <a:ahLst/>
            <a:cxnLst/>
            <a:rect l="l" t="t" r="r" b="b"/>
            <a:pathLst>
              <a:path w="1359911" h="1359911">
                <a:moveTo>
                  <a:pt x="0" y="0"/>
                </a:moveTo>
                <a:lnTo>
                  <a:pt x="1359911" y="0"/>
                </a:lnTo>
                <a:lnTo>
                  <a:pt x="1359911" y="1359911"/>
                </a:lnTo>
                <a:lnTo>
                  <a:pt x="0" y="1359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9" name="Freeform 9"/>
          <p:cNvSpPr/>
          <p:nvPr/>
        </p:nvSpPr>
        <p:spPr>
          <a:xfrm>
            <a:off x="12793873" y="4910099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0" name="Freeform 10"/>
          <p:cNvSpPr/>
          <p:nvPr/>
        </p:nvSpPr>
        <p:spPr>
          <a:xfrm>
            <a:off x="13152500" y="4792769"/>
            <a:ext cx="1504361" cy="1249988"/>
          </a:xfrm>
          <a:custGeom>
            <a:avLst/>
            <a:gdLst/>
            <a:ahLst/>
            <a:cxnLst/>
            <a:rect l="l" t="t" r="r" b="b"/>
            <a:pathLst>
              <a:path w="1504361" h="1249988">
                <a:moveTo>
                  <a:pt x="0" y="0"/>
                </a:moveTo>
                <a:lnTo>
                  <a:pt x="1504361" y="0"/>
                </a:lnTo>
                <a:lnTo>
                  <a:pt x="1504361" y="1249987"/>
                </a:lnTo>
                <a:lnTo>
                  <a:pt x="0" y="12499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1" name="TextBox 11"/>
          <p:cNvSpPr txBox="1"/>
          <p:nvPr/>
        </p:nvSpPr>
        <p:spPr>
          <a:xfrm>
            <a:off x="760535" y="6414231"/>
            <a:ext cx="4733925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Logic Layer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535" y="7208393"/>
            <a:ext cx="4733925" cy="1851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Constraint Satisfaction Problem (CSP) using AC-3 Algorithm, randomized puzzle generator, and backtracking solver for validation.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583310" y="1019175"/>
            <a:ext cx="7096492" cy="176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77204" y="6414231"/>
            <a:ext cx="4733925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Presentation Layer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77204" y="7208393"/>
            <a:ext cx="4733925" cy="148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Built with Python Pygame, handling grid rendering and user inputs for an interactive experience.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793873" y="6414231"/>
            <a:ext cx="4733593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Data Layer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93873" y="7208393"/>
            <a:ext cx="4733593" cy="148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JSON-based storage for game history, persisting statistics like score, time, and mistakes locally.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4220" y="4620892"/>
            <a:ext cx="6823913" cy="1187633"/>
            <a:chOff x="0" y="0"/>
            <a:chExt cx="9098550" cy="158351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098550" cy="1119546"/>
              <a:chOff x="0" y="0"/>
              <a:chExt cx="1797245" cy="22114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797245" cy="221145"/>
              </a:xfrm>
              <a:custGeom>
                <a:avLst/>
                <a:gdLst/>
                <a:ahLst/>
                <a:cxnLst/>
                <a:rect l="l" t="t" r="r" b="b"/>
                <a:pathLst>
                  <a:path w="1797245" h="221145">
                    <a:moveTo>
                      <a:pt x="68072" y="0"/>
                    </a:moveTo>
                    <a:lnTo>
                      <a:pt x="1729173" y="0"/>
                    </a:lnTo>
                    <a:cubicBezTo>
                      <a:pt x="1766768" y="0"/>
                      <a:pt x="1797245" y="30477"/>
                      <a:pt x="1797245" y="68072"/>
                    </a:cubicBezTo>
                    <a:lnTo>
                      <a:pt x="1797245" y="153073"/>
                    </a:lnTo>
                    <a:cubicBezTo>
                      <a:pt x="1797245" y="190668"/>
                      <a:pt x="1766768" y="221145"/>
                      <a:pt x="1729173" y="221145"/>
                    </a:cubicBezTo>
                    <a:lnTo>
                      <a:pt x="68072" y="221145"/>
                    </a:lnTo>
                    <a:cubicBezTo>
                      <a:pt x="30477" y="221145"/>
                      <a:pt x="0" y="190668"/>
                      <a:pt x="0" y="153073"/>
                    </a:cubicBezTo>
                    <a:lnTo>
                      <a:pt x="0" y="68072"/>
                    </a:lnTo>
                    <a:cubicBezTo>
                      <a:pt x="0" y="30477"/>
                      <a:pt x="30477" y="0"/>
                      <a:pt x="6807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FBF9F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797245" cy="2592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8159265" y="252670"/>
              <a:ext cx="609600" cy="614207"/>
            </a:xfrm>
            <a:custGeom>
              <a:avLst/>
              <a:gdLst/>
              <a:ahLst/>
              <a:cxnLst/>
              <a:rect l="l" t="t" r="r" b="b"/>
              <a:pathLst>
                <a:path w="609600" h="614207">
                  <a:moveTo>
                    <a:pt x="0" y="0"/>
                  </a:moveTo>
                  <a:lnTo>
                    <a:pt x="609600" y="0"/>
                  </a:lnTo>
                  <a:lnTo>
                    <a:pt x="609600" y="614207"/>
                  </a:lnTo>
                  <a:lnTo>
                    <a:pt x="0" y="614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4485" y="252857"/>
              <a:ext cx="5138861" cy="1330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 b="1">
                  <a:solidFill>
                    <a:srgbClr val="FBF9F1"/>
                  </a:solidFill>
                  <a:latin typeface="Lato Bold"/>
                  <a:ea typeface="Lato Bold"/>
                  <a:cs typeface="Lato Bold"/>
                  <a:sym typeface="Lato Bold"/>
                </a:rPr>
                <a:t>THE CSP DEFINITION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endParaRPr lang="en-US" sz="2899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231735"/>
            <a:ext cx="7994954" cy="3026565"/>
            <a:chOff x="0" y="0"/>
            <a:chExt cx="10659938" cy="403542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659938" cy="3675809"/>
              <a:chOff x="0" y="0"/>
              <a:chExt cx="1991480" cy="6867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91480" cy="686711"/>
              </a:xfrm>
              <a:custGeom>
                <a:avLst/>
                <a:gdLst/>
                <a:ahLst/>
                <a:cxnLst/>
                <a:rect l="l" t="t" r="r" b="b"/>
                <a:pathLst>
                  <a:path w="1991480" h="686711">
                    <a:moveTo>
                      <a:pt x="20477" y="0"/>
                    </a:moveTo>
                    <a:lnTo>
                      <a:pt x="1971002" y="0"/>
                    </a:lnTo>
                    <a:cubicBezTo>
                      <a:pt x="1982312" y="0"/>
                      <a:pt x="1991480" y="9168"/>
                      <a:pt x="1991480" y="20477"/>
                    </a:cubicBezTo>
                    <a:lnTo>
                      <a:pt x="1991480" y="666234"/>
                    </a:lnTo>
                    <a:cubicBezTo>
                      <a:pt x="1991480" y="677543"/>
                      <a:pt x="1982312" y="686711"/>
                      <a:pt x="1971002" y="686711"/>
                    </a:cubicBezTo>
                    <a:lnTo>
                      <a:pt x="20477" y="686711"/>
                    </a:lnTo>
                    <a:cubicBezTo>
                      <a:pt x="9168" y="686711"/>
                      <a:pt x="0" y="677543"/>
                      <a:pt x="0" y="666234"/>
                    </a:cubicBezTo>
                    <a:lnTo>
                      <a:pt x="0" y="20477"/>
                    </a:lnTo>
                    <a:cubicBezTo>
                      <a:pt x="0" y="9168"/>
                      <a:pt x="9168" y="0"/>
                      <a:pt x="20477" y="0"/>
                    </a:cubicBezTo>
                    <a:close/>
                  </a:path>
                </a:pathLst>
              </a:custGeom>
              <a:solidFill>
                <a:srgbClr val="FBF9F1"/>
              </a:solidFill>
              <a:ln w="38100" cap="sq">
                <a:solidFill>
                  <a:srgbClr val="FBF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991480" cy="7248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190714" y="203593"/>
              <a:ext cx="8278511" cy="3831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56"/>
                </a:lnSpc>
              </a:pPr>
              <a:r>
                <a:rPr lang="en-US" sz="2326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-US" sz="2326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Variables:</a:t>
              </a:r>
              <a:r>
                <a:rPr lang="en-US" sz="2326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The 81 cells on the board.</a:t>
              </a:r>
            </a:p>
            <a:p>
              <a:pPr algn="l">
                <a:lnSpc>
                  <a:spcPts val="3256"/>
                </a:lnSpc>
              </a:pPr>
              <a:r>
                <a:rPr lang="en-US" sz="2326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-US" sz="2326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Domains:</a:t>
              </a:r>
              <a:r>
                <a:rPr lang="en-US" sz="2326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The possible numbers (1-9) for each cell.</a:t>
              </a:r>
            </a:p>
            <a:p>
              <a:pPr algn="l">
                <a:lnSpc>
                  <a:spcPts val="3256"/>
                </a:lnSpc>
              </a:pPr>
              <a:r>
                <a:rPr lang="en-US" sz="2326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r>
                <a:rPr lang="en-US" sz="2326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Constraints:</a:t>
              </a:r>
              <a:r>
                <a:rPr lang="en-US" sz="2326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The rules of Sudoku (Row, Column, Box uniqueness).</a:t>
              </a:r>
            </a:p>
            <a:p>
              <a:pPr algn="l">
                <a:lnSpc>
                  <a:spcPts val="3256"/>
                </a:lnSpc>
                <a:spcBef>
                  <a:spcPct val="0"/>
                </a:spcBef>
              </a:pPr>
              <a:endParaRPr lang="en-US" sz="23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3256"/>
                </a:lnSpc>
                <a:spcBef>
                  <a:spcPct val="0"/>
                </a:spcBef>
              </a:pPr>
              <a:endParaRPr lang="en-US" sz="23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88093" y="4620892"/>
            <a:ext cx="6823913" cy="1187633"/>
            <a:chOff x="0" y="0"/>
            <a:chExt cx="9098550" cy="1583511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098550" cy="1119546"/>
              <a:chOff x="0" y="0"/>
              <a:chExt cx="1797245" cy="22114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797245" cy="221145"/>
              </a:xfrm>
              <a:custGeom>
                <a:avLst/>
                <a:gdLst/>
                <a:ahLst/>
                <a:cxnLst/>
                <a:rect l="l" t="t" r="r" b="b"/>
                <a:pathLst>
                  <a:path w="1797245" h="221145">
                    <a:moveTo>
                      <a:pt x="68072" y="0"/>
                    </a:moveTo>
                    <a:lnTo>
                      <a:pt x="1729173" y="0"/>
                    </a:lnTo>
                    <a:cubicBezTo>
                      <a:pt x="1766768" y="0"/>
                      <a:pt x="1797245" y="30477"/>
                      <a:pt x="1797245" y="68072"/>
                    </a:cubicBezTo>
                    <a:lnTo>
                      <a:pt x="1797245" y="153073"/>
                    </a:lnTo>
                    <a:cubicBezTo>
                      <a:pt x="1797245" y="190668"/>
                      <a:pt x="1766768" y="221145"/>
                      <a:pt x="1729173" y="221145"/>
                    </a:cubicBezTo>
                    <a:lnTo>
                      <a:pt x="68072" y="221145"/>
                    </a:lnTo>
                    <a:cubicBezTo>
                      <a:pt x="30477" y="221145"/>
                      <a:pt x="0" y="190668"/>
                      <a:pt x="0" y="153073"/>
                    </a:cubicBezTo>
                    <a:lnTo>
                      <a:pt x="0" y="68072"/>
                    </a:lnTo>
                    <a:cubicBezTo>
                      <a:pt x="0" y="30477"/>
                      <a:pt x="30477" y="0"/>
                      <a:pt x="6807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797245" cy="2592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8175425" y="254973"/>
              <a:ext cx="595122" cy="609600"/>
            </a:xfrm>
            <a:custGeom>
              <a:avLst/>
              <a:gdLst/>
              <a:ahLst/>
              <a:cxnLst/>
              <a:rect l="l" t="t" r="r" b="b"/>
              <a:pathLst>
                <a:path w="595122" h="609600">
                  <a:moveTo>
                    <a:pt x="0" y="0"/>
                  </a:moveTo>
                  <a:lnTo>
                    <a:pt x="595122" y="0"/>
                  </a:lnTo>
                  <a:lnTo>
                    <a:pt x="59512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4485" y="252857"/>
              <a:ext cx="5138861" cy="13306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HOW THE AI THINKS</a:t>
              </a:r>
            </a:p>
            <a:p>
              <a:pPr algn="l">
                <a:lnSpc>
                  <a:spcPts val="4059"/>
                </a:lnSpc>
                <a:spcBef>
                  <a:spcPct val="0"/>
                </a:spcBef>
              </a:pPr>
              <a:endParaRPr lang="en-US" sz="28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31941" y="6231735"/>
            <a:ext cx="8027359" cy="2712587"/>
            <a:chOff x="0" y="0"/>
            <a:chExt cx="10703145" cy="3616783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703145" cy="3616783"/>
              <a:chOff x="0" y="0"/>
              <a:chExt cx="2008549" cy="67872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008549" cy="678724"/>
              </a:xfrm>
              <a:custGeom>
                <a:avLst/>
                <a:gdLst/>
                <a:ahLst/>
                <a:cxnLst/>
                <a:rect l="l" t="t" r="r" b="b"/>
                <a:pathLst>
                  <a:path w="2008549" h="678724">
                    <a:moveTo>
                      <a:pt x="20303" y="0"/>
                    </a:moveTo>
                    <a:lnTo>
                      <a:pt x="1988246" y="0"/>
                    </a:lnTo>
                    <a:cubicBezTo>
                      <a:pt x="1993630" y="0"/>
                      <a:pt x="1998795" y="2139"/>
                      <a:pt x="2002602" y="5947"/>
                    </a:cubicBezTo>
                    <a:cubicBezTo>
                      <a:pt x="2006410" y="9754"/>
                      <a:pt x="2008549" y="14919"/>
                      <a:pt x="2008549" y="20303"/>
                    </a:cubicBezTo>
                    <a:lnTo>
                      <a:pt x="2008549" y="658421"/>
                    </a:lnTo>
                    <a:cubicBezTo>
                      <a:pt x="2008549" y="669634"/>
                      <a:pt x="1999459" y="678724"/>
                      <a:pt x="1988246" y="678724"/>
                    </a:cubicBezTo>
                    <a:lnTo>
                      <a:pt x="20303" y="678724"/>
                    </a:lnTo>
                    <a:cubicBezTo>
                      <a:pt x="14919" y="678724"/>
                      <a:pt x="9754" y="676585"/>
                      <a:pt x="5947" y="672778"/>
                    </a:cubicBezTo>
                    <a:cubicBezTo>
                      <a:pt x="2139" y="668970"/>
                      <a:pt x="0" y="663806"/>
                      <a:pt x="0" y="658421"/>
                    </a:cubicBezTo>
                    <a:lnTo>
                      <a:pt x="0" y="20303"/>
                    </a:lnTo>
                    <a:cubicBezTo>
                      <a:pt x="0" y="14919"/>
                      <a:pt x="2139" y="9754"/>
                      <a:pt x="5947" y="5947"/>
                    </a:cubicBezTo>
                    <a:cubicBezTo>
                      <a:pt x="9754" y="2139"/>
                      <a:pt x="14919" y="0"/>
                      <a:pt x="203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008549" cy="7168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230860" y="146371"/>
              <a:ext cx="8241426" cy="3266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2"/>
                </a:lnSpc>
                <a:spcBef>
                  <a:spcPct val="0"/>
                </a:spcBef>
              </a:pPr>
              <a:r>
                <a:rPr lang="en-US" sz="2315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•The AI strictly avoids random guessing.</a:t>
              </a:r>
            </a:p>
            <a:p>
              <a:pPr algn="l">
                <a:lnSpc>
                  <a:spcPts val="3242"/>
                </a:lnSpc>
                <a:spcBef>
                  <a:spcPct val="0"/>
                </a:spcBef>
              </a:pPr>
              <a:r>
                <a:rPr lang="en-US" sz="2315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•It analyzes the Domain of a cell and excludes any number that breaks a Constraint.</a:t>
              </a:r>
            </a:p>
            <a:p>
              <a:pPr algn="l">
                <a:lnSpc>
                  <a:spcPts val="3242"/>
                </a:lnSpc>
                <a:spcBef>
                  <a:spcPct val="0"/>
                </a:spcBef>
              </a:pPr>
              <a:r>
                <a:rPr lang="en-US" sz="2315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•Goal is to assign a value to every variable while satisfying all constraints</a:t>
              </a:r>
            </a:p>
            <a:p>
              <a:pPr algn="l">
                <a:lnSpc>
                  <a:spcPts val="3242"/>
                </a:lnSpc>
                <a:spcBef>
                  <a:spcPct val="0"/>
                </a:spcBef>
              </a:pPr>
              <a:endParaRPr lang="en-US" sz="231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2890532" y="732618"/>
            <a:ext cx="3517918" cy="3548971"/>
          </a:xfrm>
          <a:custGeom>
            <a:avLst/>
            <a:gdLst/>
            <a:ahLst/>
            <a:cxnLst/>
            <a:rect l="l" t="t" r="r" b="b"/>
            <a:pathLst>
              <a:path w="3517918" h="3548971">
                <a:moveTo>
                  <a:pt x="0" y="0"/>
                </a:moveTo>
                <a:lnTo>
                  <a:pt x="3517918" y="0"/>
                </a:lnTo>
                <a:lnTo>
                  <a:pt x="3517918" y="3548971"/>
                </a:lnTo>
                <a:lnTo>
                  <a:pt x="0" y="3548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25" name="TextBox 25"/>
          <p:cNvSpPr txBox="1"/>
          <p:nvPr/>
        </p:nvSpPr>
        <p:spPr>
          <a:xfrm>
            <a:off x="4525413" y="732618"/>
            <a:ext cx="9237174" cy="132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9"/>
              </a:lnSpc>
            </a:pPr>
            <a:r>
              <a:rPr lang="en-US" sz="86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CSP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851249" y="458913"/>
            <a:ext cx="3822676" cy="3822676"/>
          </a:xfrm>
          <a:custGeom>
            <a:avLst/>
            <a:gdLst/>
            <a:ahLst/>
            <a:cxnLst/>
            <a:rect l="l" t="t" r="r" b="b"/>
            <a:pathLst>
              <a:path w="3822676" h="3822676">
                <a:moveTo>
                  <a:pt x="0" y="0"/>
                </a:moveTo>
                <a:lnTo>
                  <a:pt x="3822676" y="0"/>
                </a:lnTo>
                <a:lnTo>
                  <a:pt x="3822676" y="3822676"/>
                </a:lnTo>
                <a:lnTo>
                  <a:pt x="0" y="3822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9023" cy="179523"/>
            </a:xfrm>
            <a:custGeom>
              <a:avLst/>
              <a:gdLst/>
              <a:ahLst/>
              <a:cxnLst/>
              <a:rect l="l" t="t" r="r" b="b"/>
              <a:pathLst>
                <a:path w="2299023" h="1795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4588" y="1301388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Freeform 6"/>
          <p:cNvSpPr/>
          <p:nvPr/>
        </p:nvSpPr>
        <p:spPr>
          <a:xfrm>
            <a:off x="8574588" y="401004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8574588" y="629839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8"/>
          <p:cNvSpPr/>
          <p:nvPr/>
        </p:nvSpPr>
        <p:spPr>
          <a:xfrm rot="10435729">
            <a:off x="-2756685" y="4566055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2"/>
                </a:lnTo>
                <a:lnTo>
                  <a:pt x="0" y="8527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9" name="TextBox 9"/>
          <p:cNvSpPr txBox="1"/>
          <p:nvPr/>
        </p:nvSpPr>
        <p:spPr>
          <a:xfrm>
            <a:off x="9798105" y="1302848"/>
            <a:ext cx="5199649" cy="43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Pre-Processing Algorithm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98105" y="2062943"/>
            <a:ext cx="7461194" cy="110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We have used AC-3 as a pre-processing step to reduce the domain values thus optimizing AI solving of our program &amp; validating user </a:t>
            </a:r>
            <a:r>
              <a:rPr lang="en-US" sz="21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suduko</a:t>
            </a: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board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3" y="1483464"/>
            <a:ext cx="5853180" cy="176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AC - 3 ALGORITHM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8106" y="3995893"/>
            <a:ext cx="5199649" cy="43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Domain constriction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98106" y="4755988"/>
            <a:ext cx="7461194" cy="36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Used this to prune and shrink domains according to constraints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98106" y="6327291"/>
            <a:ext cx="5199649" cy="43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Optimization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98106" y="7136994"/>
            <a:ext cx="7461194" cy="36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It Optimizes the solution finding for the AI solving module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289" y="8496300"/>
            <a:ext cx="457240" cy="463336"/>
          </a:xfrm>
          <a:prstGeom prst="rect">
            <a:avLst/>
          </a:prstGeom>
        </p:spPr>
      </p:pic>
      <p:sp>
        <p:nvSpPr>
          <p:cNvPr id="17" name="TextBox 14"/>
          <p:cNvSpPr txBox="1"/>
          <p:nvPr/>
        </p:nvSpPr>
        <p:spPr>
          <a:xfrm>
            <a:off x="9760005" y="8496300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Example</a:t>
            </a:r>
          </a:p>
        </p:txBody>
      </p:sp>
      <p:sp>
        <p:nvSpPr>
          <p:cNvPr id="18" name="TextBox 15"/>
          <p:cNvSpPr txBox="1"/>
          <p:nvPr/>
        </p:nvSpPr>
        <p:spPr>
          <a:xfrm>
            <a:off x="9760005" y="9057149"/>
            <a:ext cx="7461194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Cell A has value 3.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Neighboring Cell B has domain {1,2,3,4,5}.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AC-3 detects the conflict and removes 3 from the domain of Cell B.</a:t>
            </a:r>
          </a:p>
          <a:p>
            <a:pPr lvl="1">
              <a:lnSpc>
                <a:spcPts val="2500"/>
              </a:lnSpc>
            </a:pPr>
            <a:endParaRPr lang="en-US" sz="1600" dirty="0">
              <a:solidFill>
                <a:schemeClr val="bg1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3476" flipV="1">
            <a:off x="-3837051" y="-2410997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15372182" y="7222393"/>
            <a:ext cx="6195600" cy="3384081"/>
          </a:xfrm>
          <a:custGeom>
            <a:avLst/>
            <a:gdLst/>
            <a:ahLst/>
            <a:cxnLst/>
            <a:rect l="l" t="t" r="r" b="b"/>
            <a:pathLst>
              <a:path w="6195600" h="3384081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b="-143185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4525413" y="935475"/>
            <a:ext cx="9237174" cy="810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9"/>
              </a:lnSpc>
            </a:pPr>
            <a:r>
              <a:rPr lang="en-US" sz="5699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Constraint Violation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49569" y="2037788"/>
            <a:ext cx="6188862" cy="3105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863" y="2324100"/>
            <a:ext cx="6792273" cy="689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3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3476" flipV="1">
            <a:off x="-3837051" y="-2410997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15372182" y="7222393"/>
            <a:ext cx="6195600" cy="3384081"/>
          </a:xfrm>
          <a:custGeom>
            <a:avLst/>
            <a:gdLst/>
            <a:ahLst/>
            <a:cxnLst/>
            <a:rect l="l" t="t" r="r" b="b"/>
            <a:pathLst>
              <a:path w="6195600" h="3384081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b="-143185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4759520" y="987424"/>
            <a:ext cx="9940613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9"/>
              </a:lnSpc>
            </a:pPr>
            <a:r>
              <a:rPr lang="en-US" sz="66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CSP vs BACKTRACKING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343400" y="2477092"/>
            <a:ext cx="10605066" cy="5601551"/>
            <a:chOff x="0" y="-192881"/>
            <a:chExt cx="8280875" cy="414094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-192881"/>
              <a:ext cx="8280875" cy="4140949"/>
              <a:chOff x="0" y="-38100"/>
              <a:chExt cx="1635728" cy="81796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740" y="-19050"/>
                <a:ext cx="1629988" cy="779865"/>
              </a:xfrm>
              <a:custGeom>
                <a:avLst/>
                <a:gdLst/>
                <a:ahLst/>
                <a:cxnLst/>
                <a:rect l="l" t="t" r="r" b="b"/>
                <a:pathLst>
                  <a:path w="1629988" h="779865">
                    <a:moveTo>
                      <a:pt x="25019" y="0"/>
                    </a:moveTo>
                    <a:lnTo>
                      <a:pt x="1604970" y="0"/>
                    </a:lnTo>
                    <a:cubicBezTo>
                      <a:pt x="1611605" y="0"/>
                      <a:pt x="1617969" y="2636"/>
                      <a:pt x="1622661" y="7328"/>
                    </a:cubicBezTo>
                    <a:cubicBezTo>
                      <a:pt x="1627353" y="12020"/>
                      <a:pt x="1629988" y="18383"/>
                      <a:pt x="1629988" y="25019"/>
                    </a:cubicBezTo>
                    <a:lnTo>
                      <a:pt x="1629988" y="754846"/>
                    </a:lnTo>
                    <a:cubicBezTo>
                      <a:pt x="1629988" y="761482"/>
                      <a:pt x="1627353" y="767845"/>
                      <a:pt x="1622661" y="772537"/>
                    </a:cubicBezTo>
                    <a:cubicBezTo>
                      <a:pt x="1617969" y="777229"/>
                      <a:pt x="1611605" y="779865"/>
                      <a:pt x="1604970" y="779865"/>
                    </a:cubicBezTo>
                    <a:lnTo>
                      <a:pt x="25019" y="779865"/>
                    </a:lnTo>
                    <a:cubicBezTo>
                      <a:pt x="18383" y="779865"/>
                      <a:pt x="12020" y="777229"/>
                      <a:pt x="7328" y="772537"/>
                    </a:cubicBezTo>
                    <a:cubicBezTo>
                      <a:pt x="2636" y="767845"/>
                      <a:pt x="0" y="761482"/>
                      <a:pt x="0" y="754846"/>
                    </a:cubicBezTo>
                    <a:lnTo>
                      <a:pt x="0" y="25019"/>
                    </a:lnTo>
                    <a:cubicBezTo>
                      <a:pt x="0" y="18383"/>
                      <a:pt x="2636" y="12020"/>
                      <a:pt x="7328" y="7328"/>
                    </a:cubicBezTo>
                    <a:cubicBezTo>
                      <a:pt x="12020" y="2636"/>
                      <a:pt x="18383" y="0"/>
                      <a:pt x="250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FBF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629988" cy="8179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495808" y="417883"/>
              <a:ext cx="7260199" cy="3208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sz="2400" b="1" dirty="0">
                  <a:solidFill>
                    <a:schemeClr val="bg1"/>
                  </a:solidFill>
                </a:rPr>
                <a:t>Naive Backtracking: </a:t>
              </a:r>
              <a:r>
                <a:rPr lang="en-US" sz="2400" dirty="0">
                  <a:solidFill>
                    <a:schemeClr val="bg1"/>
                  </a:solidFill>
                </a:rPr>
                <a:t>Is "blind." It fills the grid sequentially. It will often fill 50 squares before realizing it made a mistake at square 2. 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r>
                <a:rPr lang="en-US" sz="2400" b="1" dirty="0">
                  <a:solidFill>
                    <a:schemeClr val="bg1"/>
                  </a:solidFill>
                </a:rPr>
                <a:t>Our CSP Approach: </a:t>
              </a:r>
              <a:r>
                <a:rPr lang="en-US" sz="2400" dirty="0">
                  <a:solidFill>
                    <a:schemeClr val="bg1"/>
                  </a:solidFill>
                </a:rPr>
                <a:t>Is "informed." By using AC-3, it prunes invalid options </a:t>
              </a:r>
              <a:r>
                <a:rPr lang="en-US" sz="2400" i="1" dirty="0">
                  <a:solidFill>
                    <a:schemeClr val="bg1"/>
                  </a:solidFill>
                </a:rPr>
                <a:t>before </a:t>
              </a:r>
              <a:r>
                <a:rPr lang="en-US" sz="2400" dirty="0">
                  <a:solidFill>
                    <a:schemeClr val="bg1"/>
                  </a:solidFill>
                </a:rPr>
                <a:t>trying them. 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pPr lvl="0"/>
              <a:r>
                <a:rPr lang="en-US" sz="2400" b="1" dirty="0">
                  <a:solidFill>
                    <a:schemeClr val="bg1"/>
                  </a:solidFill>
                </a:rPr>
                <a:t>Why we chose CSP:</a:t>
              </a:r>
              <a:r>
                <a:rPr lang="en-US" sz="2400" dirty="0">
                  <a:solidFill>
                    <a:schemeClr val="bg1"/>
                  </a:solidFill>
                </a:rPr>
                <a:t> Efficiency and speed. CSP solves hard puzzles in milliseconds, whereas naive backtracking can hang for seconds or minutes on pathological cases.</a:t>
              </a:r>
            </a:p>
            <a:p>
              <a:endParaRPr lang="en-US" sz="2400" dirty="0">
                <a:solidFill>
                  <a:schemeClr val="bg1"/>
                </a:solidFill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363200" y="3725012"/>
            <a:ext cx="6188862" cy="3105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3476" flipV="1">
            <a:off x="-3837051" y="-2410997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15372182" y="7222393"/>
            <a:ext cx="6195600" cy="3384081"/>
          </a:xfrm>
          <a:custGeom>
            <a:avLst/>
            <a:gdLst/>
            <a:ahLst/>
            <a:cxnLst/>
            <a:rect l="l" t="t" r="r" b="b"/>
            <a:pathLst>
              <a:path w="6195600" h="3384081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b="-143185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4525413" y="935475"/>
            <a:ext cx="9237174" cy="872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9"/>
              </a:lnSpc>
            </a:pPr>
            <a:r>
              <a:rPr lang="en-US" sz="56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THE FAIL SAFE STRATEGY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4851" y="4756762"/>
            <a:ext cx="6188862" cy="2961051"/>
            <a:chOff x="0" y="0"/>
            <a:chExt cx="8251816" cy="394806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8251816" cy="3948068"/>
              <a:chOff x="0" y="0"/>
              <a:chExt cx="1629988" cy="77986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29988" cy="779865"/>
              </a:xfrm>
              <a:custGeom>
                <a:avLst/>
                <a:gdLst/>
                <a:ahLst/>
                <a:cxnLst/>
                <a:rect l="l" t="t" r="r" b="b"/>
                <a:pathLst>
                  <a:path w="1629988" h="779865">
                    <a:moveTo>
                      <a:pt x="25019" y="0"/>
                    </a:moveTo>
                    <a:lnTo>
                      <a:pt x="1604970" y="0"/>
                    </a:lnTo>
                    <a:cubicBezTo>
                      <a:pt x="1611605" y="0"/>
                      <a:pt x="1617969" y="2636"/>
                      <a:pt x="1622661" y="7328"/>
                    </a:cubicBezTo>
                    <a:cubicBezTo>
                      <a:pt x="1627353" y="12020"/>
                      <a:pt x="1629988" y="18383"/>
                      <a:pt x="1629988" y="25019"/>
                    </a:cubicBezTo>
                    <a:lnTo>
                      <a:pt x="1629988" y="754846"/>
                    </a:lnTo>
                    <a:cubicBezTo>
                      <a:pt x="1629988" y="761482"/>
                      <a:pt x="1627353" y="767845"/>
                      <a:pt x="1622661" y="772537"/>
                    </a:cubicBezTo>
                    <a:cubicBezTo>
                      <a:pt x="1617969" y="777229"/>
                      <a:pt x="1611605" y="779865"/>
                      <a:pt x="1604970" y="779865"/>
                    </a:cubicBezTo>
                    <a:lnTo>
                      <a:pt x="25019" y="779865"/>
                    </a:lnTo>
                    <a:cubicBezTo>
                      <a:pt x="18383" y="779865"/>
                      <a:pt x="12020" y="777229"/>
                      <a:pt x="7328" y="772537"/>
                    </a:cubicBezTo>
                    <a:cubicBezTo>
                      <a:pt x="2636" y="767845"/>
                      <a:pt x="0" y="761482"/>
                      <a:pt x="0" y="754846"/>
                    </a:cubicBezTo>
                    <a:lnTo>
                      <a:pt x="0" y="25019"/>
                    </a:lnTo>
                    <a:cubicBezTo>
                      <a:pt x="0" y="18383"/>
                      <a:pt x="2636" y="12020"/>
                      <a:pt x="7328" y="7328"/>
                    </a:cubicBezTo>
                    <a:cubicBezTo>
                      <a:pt x="12020" y="2636"/>
                      <a:pt x="18383" y="0"/>
                      <a:pt x="250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FBF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629988" cy="8179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24867" y="1322063"/>
              <a:ext cx="7260199" cy="2137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The AI scans the board and picks the cell with the fewest possible legal moves. This approach increases the probability of making a correct guess and reduces backtracking.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866" y="512938"/>
              <a:ext cx="7260199" cy="556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FBF9F1"/>
                  </a:solidFill>
                  <a:latin typeface="Lato Bold"/>
                  <a:ea typeface="Lato Bold"/>
                  <a:cs typeface="Lato Bold"/>
                  <a:sym typeface="Lato Bold"/>
                </a:rPr>
                <a:t>Strategy Overview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9569" y="2182449"/>
            <a:ext cx="6188862" cy="2961051"/>
            <a:chOff x="0" y="0"/>
            <a:chExt cx="8251816" cy="394806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8251816" cy="3948068"/>
              <a:chOff x="0" y="0"/>
              <a:chExt cx="1629988" cy="77986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629988" cy="779865"/>
              </a:xfrm>
              <a:custGeom>
                <a:avLst/>
                <a:gdLst/>
                <a:ahLst/>
                <a:cxnLst/>
                <a:rect l="l" t="t" r="r" b="b"/>
                <a:pathLst>
                  <a:path w="1629988" h="779865">
                    <a:moveTo>
                      <a:pt x="25019" y="0"/>
                    </a:moveTo>
                    <a:lnTo>
                      <a:pt x="1604970" y="0"/>
                    </a:lnTo>
                    <a:cubicBezTo>
                      <a:pt x="1611605" y="0"/>
                      <a:pt x="1617969" y="2636"/>
                      <a:pt x="1622661" y="7328"/>
                    </a:cubicBezTo>
                    <a:cubicBezTo>
                      <a:pt x="1627353" y="12020"/>
                      <a:pt x="1629988" y="18383"/>
                      <a:pt x="1629988" y="25019"/>
                    </a:cubicBezTo>
                    <a:lnTo>
                      <a:pt x="1629988" y="754846"/>
                    </a:lnTo>
                    <a:cubicBezTo>
                      <a:pt x="1629988" y="761482"/>
                      <a:pt x="1627353" y="767845"/>
                      <a:pt x="1622661" y="772537"/>
                    </a:cubicBezTo>
                    <a:cubicBezTo>
                      <a:pt x="1617969" y="777229"/>
                      <a:pt x="1611605" y="779865"/>
                      <a:pt x="1604970" y="779865"/>
                    </a:cubicBezTo>
                    <a:lnTo>
                      <a:pt x="25019" y="779865"/>
                    </a:lnTo>
                    <a:cubicBezTo>
                      <a:pt x="18383" y="779865"/>
                      <a:pt x="12020" y="777229"/>
                      <a:pt x="7328" y="772537"/>
                    </a:cubicBezTo>
                    <a:cubicBezTo>
                      <a:pt x="2636" y="767845"/>
                      <a:pt x="0" y="761482"/>
                      <a:pt x="0" y="754846"/>
                    </a:cubicBezTo>
                    <a:lnTo>
                      <a:pt x="0" y="25019"/>
                    </a:lnTo>
                    <a:cubicBezTo>
                      <a:pt x="0" y="18383"/>
                      <a:pt x="2636" y="12020"/>
                      <a:pt x="7328" y="7328"/>
                    </a:cubicBezTo>
                    <a:cubicBezTo>
                      <a:pt x="12020" y="2636"/>
                      <a:pt x="18383" y="0"/>
                      <a:pt x="250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FBF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629988" cy="8179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24866" y="1322062"/>
              <a:ext cx="7260199" cy="2055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Our skilled team brings specialized knowledge and experience to provide top-notch solutions tailored to our clients' needs.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4866" y="512938"/>
              <a:ext cx="7260199" cy="556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BF9F1"/>
                  </a:solidFill>
                  <a:latin typeface="Lato"/>
                  <a:ea typeface="Lato"/>
                  <a:cs typeface="Lato"/>
                  <a:sym typeface="Lato"/>
                </a:rPr>
                <a:t>MRV Heuristic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66216" y="4756762"/>
            <a:ext cx="6188862" cy="3082355"/>
            <a:chOff x="0" y="0"/>
            <a:chExt cx="8251816" cy="4109807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8251816" cy="3948068"/>
              <a:chOff x="0" y="0"/>
              <a:chExt cx="1629988" cy="77986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629988" cy="779865"/>
              </a:xfrm>
              <a:custGeom>
                <a:avLst/>
                <a:gdLst/>
                <a:ahLst/>
                <a:cxnLst/>
                <a:rect l="l" t="t" r="r" b="b"/>
                <a:pathLst>
                  <a:path w="1629988" h="779865">
                    <a:moveTo>
                      <a:pt x="25019" y="0"/>
                    </a:moveTo>
                    <a:lnTo>
                      <a:pt x="1604970" y="0"/>
                    </a:lnTo>
                    <a:cubicBezTo>
                      <a:pt x="1611605" y="0"/>
                      <a:pt x="1617969" y="2636"/>
                      <a:pt x="1622661" y="7328"/>
                    </a:cubicBezTo>
                    <a:cubicBezTo>
                      <a:pt x="1627353" y="12020"/>
                      <a:pt x="1629988" y="18383"/>
                      <a:pt x="1629988" y="25019"/>
                    </a:cubicBezTo>
                    <a:lnTo>
                      <a:pt x="1629988" y="754846"/>
                    </a:lnTo>
                    <a:cubicBezTo>
                      <a:pt x="1629988" y="761482"/>
                      <a:pt x="1627353" y="767845"/>
                      <a:pt x="1622661" y="772537"/>
                    </a:cubicBezTo>
                    <a:cubicBezTo>
                      <a:pt x="1617969" y="777229"/>
                      <a:pt x="1611605" y="779865"/>
                      <a:pt x="1604970" y="779865"/>
                    </a:cubicBezTo>
                    <a:lnTo>
                      <a:pt x="25019" y="779865"/>
                    </a:lnTo>
                    <a:cubicBezTo>
                      <a:pt x="18383" y="779865"/>
                      <a:pt x="12020" y="777229"/>
                      <a:pt x="7328" y="772537"/>
                    </a:cubicBezTo>
                    <a:cubicBezTo>
                      <a:pt x="2636" y="767845"/>
                      <a:pt x="0" y="761482"/>
                      <a:pt x="0" y="754846"/>
                    </a:cubicBezTo>
                    <a:lnTo>
                      <a:pt x="0" y="25019"/>
                    </a:lnTo>
                    <a:cubicBezTo>
                      <a:pt x="0" y="18383"/>
                      <a:pt x="2636" y="12020"/>
                      <a:pt x="7328" y="7328"/>
                    </a:cubicBezTo>
                    <a:cubicBezTo>
                      <a:pt x="12020" y="2636"/>
                      <a:pt x="18383" y="0"/>
                      <a:pt x="250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FBF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629988" cy="8179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95808" y="1117535"/>
              <a:ext cx="7260199" cy="29922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>
                <a:lnSpc>
                  <a:spcPts val="2500"/>
                </a:lnSpc>
                <a:buSzPct val="100000"/>
                <a:buChar char="•"/>
              </a:pPr>
              <a:r>
                <a:rPr lang="en-US" sz="2400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A cell with 2 options has a </a:t>
              </a:r>
              <a:r>
                <a:rPr lang="en-US" sz="2400" b="1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50%</a:t>
              </a:r>
              <a:r>
                <a:rPr lang="en-US" sz="2400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 probability of being right.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en-US" sz="2400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A cell with 9 options has only an </a:t>
              </a:r>
              <a:r>
                <a:rPr lang="en-US" sz="2400" b="1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11%</a:t>
              </a:r>
              <a:r>
                <a:rPr lang="en-US" sz="2400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 probability.</a:t>
              </a:r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en-US" sz="2400" dirty="0">
                  <a:solidFill>
                    <a:schemeClr val="bg1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Conclusion: We solve the hardest cells first to minimize errors.</a:t>
              </a:r>
              <a:endParaRPr lang="en-US" sz="2400" dirty="0">
                <a:solidFill>
                  <a:schemeClr val="bg1"/>
                </a:solidFill>
              </a:endParaRPr>
            </a:p>
            <a:p>
              <a:pPr marL="342900" indent="-342900">
                <a:lnSpc>
                  <a:spcPts val="2500"/>
                </a:lnSpc>
                <a:buSzPct val="100000"/>
                <a:buChar char="•"/>
              </a:pPr>
              <a:endParaRPr lang="en-US" sz="240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4866" y="512938"/>
              <a:ext cx="7260199" cy="556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FBF9F1"/>
                  </a:solidFill>
                  <a:latin typeface="Lato Bold"/>
                  <a:ea typeface="Lato Bold"/>
                  <a:cs typeface="Lato Bold"/>
                  <a:sym typeface="Lato Bold"/>
                </a:rPr>
                <a:t>The 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594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3014">
            <a:off x="10390308" y="-6185338"/>
            <a:ext cx="10128448" cy="10895890"/>
          </a:xfrm>
          <a:custGeom>
            <a:avLst/>
            <a:gdLst/>
            <a:ahLst/>
            <a:cxnLst/>
            <a:rect l="l" t="t" r="r" b="b"/>
            <a:pathLst>
              <a:path w="10128448" h="10895890">
                <a:moveTo>
                  <a:pt x="0" y="0"/>
                </a:moveTo>
                <a:lnTo>
                  <a:pt x="10128448" y="0"/>
                </a:lnTo>
                <a:lnTo>
                  <a:pt x="10128448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r="-157"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3" name="Group 3"/>
          <p:cNvGrpSpPr/>
          <p:nvPr/>
        </p:nvGrpSpPr>
        <p:grpSpPr>
          <a:xfrm>
            <a:off x="1998037" y="4313493"/>
            <a:ext cx="14330156" cy="650410"/>
            <a:chOff x="0" y="0"/>
            <a:chExt cx="3774197" cy="1713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74198" cy="171301"/>
            </a:xfrm>
            <a:custGeom>
              <a:avLst/>
              <a:gdLst/>
              <a:ahLst/>
              <a:cxnLst/>
              <a:rect l="l" t="t" r="r" b="b"/>
              <a:pathLst>
                <a:path w="3774198" h="171301">
                  <a:moveTo>
                    <a:pt x="32415" y="0"/>
                  </a:moveTo>
                  <a:lnTo>
                    <a:pt x="3741782" y="0"/>
                  </a:lnTo>
                  <a:cubicBezTo>
                    <a:pt x="3759685" y="0"/>
                    <a:pt x="3774198" y="14513"/>
                    <a:pt x="3774198" y="32415"/>
                  </a:cubicBezTo>
                  <a:lnTo>
                    <a:pt x="3774198" y="138886"/>
                  </a:lnTo>
                  <a:cubicBezTo>
                    <a:pt x="3774198" y="156789"/>
                    <a:pt x="3759685" y="171301"/>
                    <a:pt x="3741782" y="171301"/>
                  </a:cubicBezTo>
                  <a:lnTo>
                    <a:pt x="32415" y="171301"/>
                  </a:lnTo>
                  <a:cubicBezTo>
                    <a:pt x="14513" y="171301"/>
                    <a:pt x="0" y="156789"/>
                    <a:pt x="0" y="138886"/>
                  </a:cubicBezTo>
                  <a:lnTo>
                    <a:pt x="0" y="32415"/>
                  </a:lnTo>
                  <a:cubicBezTo>
                    <a:pt x="0" y="14513"/>
                    <a:pt x="14513" y="0"/>
                    <a:pt x="324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74197" cy="209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544667" y="443307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8"/>
                </a:lnTo>
                <a:lnTo>
                  <a:pt x="0" y="411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8754951" y="443307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8"/>
                </a:lnTo>
                <a:lnTo>
                  <a:pt x="0" y="411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8"/>
          <p:cNvSpPr/>
          <p:nvPr/>
        </p:nvSpPr>
        <p:spPr>
          <a:xfrm>
            <a:off x="14497597" y="443307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5" y="0"/>
                </a:lnTo>
                <a:lnTo>
                  <a:pt x="408165" y="411248"/>
                </a:lnTo>
                <a:lnTo>
                  <a:pt x="0" y="411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9" name="Group 9"/>
          <p:cNvGrpSpPr/>
          <p:nvPr/>
        </p:nvGrpSpPr>
        <p:grpSpPr>
          <a:xfrm>
            <a:off x="1998037" y="5592004"/>
            <a:ext cx="3501424" cy="2217554"/>
            <a:chOff x="0" y="0"/>
            <a:chExt cx="4668565" cy="2956739"/>
          </a:xfrm>
        </p:grpSpPr>
        <p:sp>
          <p:nvSpPr>
            <p:cNvPr id="10" name="TextBox 10"/>
            <p:cNvSpPr txBox="1"/>
            <p:nvPr/>
          </p:nvSpPr>
          <p:spPr>
            <a:xfrm>
              <a:off x="43458" y="-57150"/>
              <a:ext cx="4625107" cy="1140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b="1">
                  <a:solidFill>
                    <a:srgbClr val="FFD944"/>
                  </a:solidFill>
                  <a:latin typeface="Lato Bold"/>
                  <a:ea typeface="Lato Bold"/>
                  <a:cs typeface="Lato Bold"/>
                  <a:sym typeface="Lato Bold"/>
                </a:rPr>
                <a:t>Generate Solved Board</a:t>
              </a:r>
            </a:p>
            <a:p>
              <a:pPr algn="l">
                <a:lnSpc>
                  <a:spcPts val="3500"/>
                </a:lnSpc>
                <a:spcBef>
                  <a:spcPct val="0"/>
                </a:spcBef>
              </a:pPr>
              <a:endParaRPr lang="en-US" sz="2500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01055"/>
              <a:ext cx="4337369" cy="2055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Create a fully solved, valid Sudoku board using the Constraint Satisfaction Problem (CSP) algorithm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290181"/>
            <a:ext cx="5717469" cy="176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PUZZLE GENERATION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660800" y="5563263"/>
            <a:ext cx="3253027" cy="2998516"/>
            <a:chOff x="0" y="0"/>
            <a:chExt cx="4337369" cy="3998021"/>
          </a:xfrm>
        </p:grpSpPr>
        <p:sp>
          <p:nvSpPr>
            <p:cNvPr id="14" name="TextBox 14"/>
            <p:cNvSpPr txBox="1"/>
            <p:nvPr/>
          </p:nvSpPr>
          <p:spPr>
            <a:xfrm>
              <a:off x="43458" y="-57150"/>
              <a:ext cx="4293912" cy="556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FFD944"/>
                  </a:solidFill>
                  <a:latin typeface="Lato Bold"/>
                  <a:ea typeface="Lato Bold"/>
                  <a:cs typeface="Lato Bold"/>
                  <a:sym typeface="Lato Bold"/>
                </a:rPr>
                <a:t>Remove Numbers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01055"/>
              <a:ext cx="4337369" cy="30969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Randomly remove numbers to create holes or clues, gradually increasing the puzzle's difficulty.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endPara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075166" y="5563263"/>
            <a:ext cx="3253027" cy="2998516"/>
            <a:chOff x="0" y="0"/>
            <a:chExt cx="4337369" cy="3998021"/>
          </a:xfrm>
        </p:grpSpPr>
        <p:sp>
          <p:nvSpPr>
            <p:cNvPr id="17" name="TextBox 17"/>
            <p:cNvSpPr txBox="1"/>
            <p:nvPr/>
          </p:nvSpPr>
          <p:spPr>
            <a:xfrm>
              <a:off x="43458" y="-57150"/>
              <a:ext cx="4293912" cy="556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FFD944"/>
                  </a:solidFill>
                  <a:latin typeface="Lato Bold"/>
                  <a:ea typeface="Lato Bold"/>
                  <a:cs typeface="Lato Bold"/>
                  <a:sym typeface="Lato Bold"/>
                </a:rPr>
                <a:t>Validate Uniqueness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01055"/>
              <a:ext cx="4337369" cy="30969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After every removal, use a Backtracking Solver to ensure the puzzle still has exactly one unique solution.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endPara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989496">
            <a:off x="-5513283" y="5197626"/>
            <a:ext cx="11026567" cy="7966695"/>
          </a:xfrm>
          <a:custGeom>
            <a:avLst/>
            <a:gdLst/>
            <a:ahLst/>
            <a:cxnLst/>
            <a:rect l="l" t="t" r="r" b="b"/>
            <a:pathLst>
              <a:path w="11026567" h="7966695">
                <a:moveTo>
                  <a:pt x="0" y="0"/>
                </a:moveTo>
                <a:lnTo>
                  <a:pt x="11026566" y="0"/>
                </a:lnTo>
                <a:lnTo>
                  <a:pt x="11026566" y="7966695"/>
                </a:lnTo>
                <a:lnTo>
                  <a:pt x="0" y="7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 rot="-2967116">
            <a:off x="13804603" y="1547788"/>
            <a:ext cx="12892802" cy="9575242"/>
          </a:xfrm>
          <a:custGeom>
            <a:avLst/>
            <a:gdLst/>
            <a:ahLst/>
            <a:cxnLst/>
            <a:rect l="l" t="t" r="r" b="b"/>
            <a:pathLst>
              <a:path w="12892802" h="9575242">
                <a:moveTo>
                  <a:pt x="0" y="0"/>
                </a:moveTo>
                <a:lnTo>
                  <a:pt x="12892802" y="0"/>
                </a:lnTo>
                <a:lnTo>
                  <a:pt x="12892802" y="9575242"/>
                </a:lnTo>
                <a:lnTo>
                  <a:pt x="0" y="95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793"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4" name="Group 4"/>
          <p:cNvGrpSpPr/>
          <p:nvPr/>
        </p:nvGrpSpPr>
        <p:grpSpPr>
          <a:xfrm>
            <a:off x="1004596" y="839514"/>
            <a:ext cx="16254704" cy="902140"/>
            <a:chOff x="0" y="0"/>
            <a:chExt cx="4281074" cy="2376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81074" cy="237601"/>
            </a:xfrm>
            <a:custGeom>
              <a:avLst/>
              <a:gdLst/>
              <a:ahLst/>
              <a:cxnLst/>
              <a:rect l="l" t="t" r="r" b="b"/>
              <a:pathLst>
                <a:path w="4281074" h="237601">
                  <a:moveTo>
                    <a:pt x="28577" y="0"/>
                  </a:moveTo>
                  <a:lnTo>
                    <a:pt x="4252497" y="0"/>
                  </a:lnTo>
                  <a:cubicBezTo>
                    <a:pt x="4260076" y="0"/>
                    <a:pt x="4267345" y="3011"/>
                    <a:pt x="4272704" y="8370"/>
                  </a:cubicBezTo>
                  <a:cubicBezTo>
                    <a:pt x="4278064" y="13729"/>
                    <a:pt x="4281074" y="20998"/>
                    <a:pt x="4281074" y="28577"/>
                  </a:cubicBezTo>
                  <a:lnTo>
                    <a:pt x="4281074" y="209023"/>
                  </a:lnTo>
                  <a:cubicBezTo>
                    <a:pt x="4281074" y="216602"/>
                    <a:pt x="4278064" y="223871"/>
                    <a:pt x="4272704" y="229231"/>
                  </a:cubicBezTo>
                  <a:cubicBezTo>
                    <a:pt x="4267345" y="234590"/>
                    <a:pt x="4260076" y="237601"/>
                    <a:pt x="4252497" y="237601"/>
                  </a:cubicBezTo>
                  <a:lnTo>
                    <a:pt x="28577" y="237601"/>
                  </a:lnTo>
                  <a:cubicBezTo>
                    <a:pt x="20998" y="237601"/>
                    <a:pt x="13729" y="234590"/>
                    <a:pt x="8370" y="229231"/>
                  </a:cubicBezTo>
                  <a:cubicBezTo>
                    <a:pt x="3011" y="223871"/>
                    <a:pt x="0" y="216602"/>
                    <a:pt x="0" y="209023"/>
                  </a:cubicBezTo>
                  <a:lnTo>
                    <a:pt x="0" y="28577"/>
                  </a:lnTo>
                  <a:cubicBezTo>
                    <a:pt x="0" y="20998"/>
                    <a:pt x="3011" y="13729"/>
                    <a:pt x="8370" y="8370"/>
                  </a:cubicBezTo>
                  <a:cubicBezTo>
                    <a:pt x="13729" y="3011"/>
                    <a:pt x="20998" y="0"/>
                    <a:pt x="285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81074" cy="275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1957430"/>
            <a:ext cx="8010208" cy="1024657"/>
            <a:chOff x="0" y="0"/>
            <a:chExt cx="2109684" cy="2698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9685" cy="269869"/>
            </a:xfrm>
            <a:custGeom>
              <a:avLst/>
              <a:gdLst/>
              <a:ahLst/>
              <a:cxnLst/>
              <a:rect l="l" t="t" r="r" b="b"/>
              <a:pathLst>
                <a:path w="2109685" h="269869">
                  <a:moveTo>
                    <a:pt x="57990" y="0"/>
                  </a:moveTo>
                  <a:lnTo>
                    <a:pt x="2051694" y="0"/>
                  </a:lnTo>
                  <a:cubicBezTo>
                    <a:pt x="2067074" y="0"/>
                    <a:pt x="2081824" y="6110"/>
                    <a:pt x="2092700" y="16985"/>
                  </a:cubicBezTo>
                  <a:cubicBezTo>
                    <a:pt x="2103575" y="27860"/>
                    <a:pt x="2109685" y="42610"/>
                    <a:pt x="2109685" y="57990"/>
                  </a:cubicBezTo>
                  <a:lnTo>
                    <a:pt x="2109685" y="211878"/>
                  </a:lnTo>
                  <a:cubicBezTo>
                    <a:pt x="2109685" y="227258"/>
                    <a:pt x="2103575" y="242008"/>
                    <a:pt x="2092700" y="252884"/>
                  </a:cubicBezTo>
                  <a:cubicBezTo>
                    <a:pt x="2081824" y="263759"/>
                    <a:pt x="2067074" y="269869"/>
                    <a:pt x="2051694" y="269869"/>
                  </a:cubicBezTo>
                  <a:lnTo>
                    <a:pt x="57990" y="269869"/>
                  </a:lnTo>
                  <a:cubicBezTo>
                    <a:pt x="42610" y="269869"/>
                    <a:pt x="27860" y="263759"/>
                    <a:pt x="16985" y="252884"/>
                  </a:cubicBezTo>
                  <a:cubicBezTo>
                    <a:pt x="6110" y="242008"/>
                    <a:pt x="0" y="227258"/>
                    <a:pt x="0" y="211878"/>
                  </a:cubicBezTo>
                  <a:lnTo>
                    <a:pt x="0" y="57990"/>
                  </a:lnTo>
                  <a:cubicBezTo>
                    <a:pt x="0" y="42610"/>
                    <a:pt x="6110" y="27860"/>
                    <a:pt x="16985" y="16985"/>
                  </a:cubicBezTo>
                  <a:cubicBezTo>
                    <a:pt x="27860" y="6110"/>
                    <a:pt x="42610" y="0"/>
                    <a:pt x="5799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09684" cy="307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96172" y="2171933"/>
            <a:ext cx="6667955" cy="50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 AWARE HINTS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36058" y="3398209"/>
            <a:ext cx="6795492" cy="3994749"/>
            <a:chOff x="0" y="0"/>
            <a:chExt cx="2109684" cy="12401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09685" cy="1240184"/>
            </a:xfrm>
            <a:custGeom>
              <a:avLst/>
              <a:gdLst/>
              <a:ahLst/>
              <a:cxnLst/>
              <a:rect l="l" t="t" r="r" b="b"/>
              <a:pathLst>
                <a:path w="2109685" h="1240184">
                  <a:moveTo>
                    <a:pt x="22785" y="0"/>
                  </a:moveTo>
                  <a:lnTo>
                    <a:pt x="2086899" y="0"/>
                  </a:lnTo>
                  <a:cubicBezTo>
                    <a:pt x="2099483" y="0"/>
                    <a:pt x="2109685" y="10201"/>
                    <a:pt x="2109685" y="22785"/>
                  </a:cubicBezTo>
                  <a:lnTo>
                    <a:pt x="2109685" y="1217399"/>
                  </a:lnTo>
                  <a:cubicBezTo>
                    <a:pt x="2109685" y="1229983"/>
                    <a:pt x="2099483" y="1240184"/>
                    <a:pt x="2086899" y="1240184"/>
                  </a:cubicBezTo>
                  <a:lnTo>
                    <a:pt x="22785" y="1240184"/>
                  </a:lnTo>
                  <a:cubicBezTo>
                    <a:pt x="10201" y="1240184"/>
                    <a:pt x="0" y="1229983"/>
                    <a:pt x="0" y="1217399"/>
                  </a:cubicBezTo>
                  <a:lnTo>
                    <a:pt x="0" y="22785"/>
                  </a:lnTo>
                  <a:cubicBezTo>
                    <a:pt x="0" y="10201"/>
                    <a:pt x="10201" y="0"/>
                    <a:pt x="22785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09684" cy="1278284"/>
            </a:xfrm>
            <a:prstGeom prst="rect">
              <a:avLst/>
            </a:prstGeom>
          </p:spPr>
          <p:txBody>
            <a:bodyPr lIns="43096" tIns="43096" rIns="43096" bIns="4309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39759" y="4827746"/>
            <a:ext cx="5988090" cy="124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898" lvl="1" indent="-255449" algn="l">
              <a:lnSpc>
                <a:spcPts val="3312"/>
              </a:lnSpc>
              <a:buFont typeface="Arial"/>
              <a:buChar char="•"/>
            </a:pPr>
            <a:r>
              <a:rPr lang="en-US" sz="236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AI Checks the Domain of all empty Cells.</a:t>
            </a:r>
          </a:p>
          <a:p>
            <a:pPr marL="510898" lvl="1" indent="-255449" algn="l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If a Cell has only possible number left, It gets highlighted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64128" y="2049567"/>
            <a:ext cx="8010208" cy="1024657"/>
            <a:chOff x="0" y="0"/>
            <a:chExt cx="2109684" cy="2698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09685" cy="269869"/>
            </a:xfrm>
            <a:custGeom>
              <a:avLst/>
              <a:gdLst/>
              <a:ahLst/>
              <a:cxnLst/>
              <a:rect l="l" t="t" r="r" b="b"/>
              <a:pathLst>
                <a:path w="2109685" h="269869">
                  <a:moveTo>
                    <a:pt x="57990" y="0"/>
                  </a:moveTo>
                  <a:lnTo>
                    <a:pt x="2051694" y="0"/>
                  </a:lnTo>
                  <a:cubicBezTo>
                    <a:pt x="2067074" y="0"/>
                    <a:pt x="2081824" y="6110"/>
                    <a:pt x="2092700" y="16985"/>
                  </a:cubicBezTo>
                  <a:cubicBezTo>
                    <a:pt x="2103575" y="27860"/>
                    <a:pt x="2109685" y="42610"/>
                    <a:pt x="2109685" y="57990"/>
                  </a:cubicBezTo>
                  <a:lnTo>
                    <a:pt x="2109685" y="211878"/>
                  </a:lnTo>
                  <a:cubicBezTo>
                    <a:pt x="2109685" y="227258"/>
                    <a:pt x="2103575" y="242008"/>
                    <a:pt x="2092700" y="252884"/>
                  </a:cubicBezTo>
                  <a:cubicBezTo>
                    <a:pt x="2081824" y="263759"/>
                    <a:pt x="2067074" y="269869"/>
                    <a:pt x="2051694" y="269869"/>
                  </a:cubicBezTo>
                  <a:lnTo>
                    <a:pt x="57990" y="269869"/>
                  </a:lnTo>
                  <a:cubicBezTo>
                    <a:pt x="42610" y="269869"/>
                    <a:pt x="27860" y="263759"/>
                    <a:pt x="16985" y="252884"/>
                  </a:cubicBezTo>
                  <a:cubicBezTo>
                    <a:pt x="6110" y="242008"/>
                    <a:pt x="0" y="227258"/>
                    <a:pt x="0" y="211878"/>
                  </a:cubicBezTo>
                  <a:lnTo>
                    <a:pt x="0" y="57990"/>
                  </a:lnTo>
                  <a:cubicBezTo>
                    <a:pt x="0" y="42610"/>
                    <a:pt x="6110" y="27860"/>
                    <a:pt x="16985" y="16985"/>
                  </a:cubicBezTo>
                  <a:cubicBezTo>
                    <a:pt x="27860" y="6110"/>
                    <a:pt x="42610" y="0"/>
                    <a:pt x="5799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09684" cy="307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622047" y="2253085"/>
            <a:ext cx="6665953" cy="50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MINIMAX WARNINGS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197123" y="3382137"/>
            <a:ext cx="6277826" cy="4010821"/>
            <a:chOff x="0" y="0"/>
            <a:chExt cx="2109684" cy="13478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09685" cy="1347850"/>
            </a:xfrm>
            <a:custGeom>
              <a:avLst/>
              <a:gdLst/>
              <a:ahLst/>
              <a:cxnLst/>
              <a:rect l="l" t="t" r="r" b="b"/>
              <a:pathLst>
                <a:path w="2109685" h="1347850">
                  <a:moveTo>
                    <a:pt x="24664" y="0"/>
                  </a:moveTo>
                  <a:lnTo>
                    <a:pt x="2085020" y="0"/>
                  </a:lnTo>
                  <a:cubicBezTo>
                    <a:pt x="2091562" y="0"/>
                    <a:pt x="2097835" y="2599"/>
                    <a:pt x="2102461" y="7224"/>
                  </a:cubicBezTo>
                  <a:cubicBezTo>
                    <a:pt x="2107086" y="11849"/>
                    <a:pt x="2109685" y="18123"/>
                    <a:pt x="2109685" y="24664"/>
                  </a:cubicBezTo>
                  <a:lnTo>
                    <a:pt x="2109685" y="1323186"/>
                  </a:lnTo>
                  <a:cubicBezTo>
                    <a:pt x="2109685" y="1329727"/>
                    <a:pt x="2107086" y="1336001"/>
                    <a:pt x="2102461" y="1340626"/>
                  </a:cubicBezTo>
                  <a:cubicBezTo>
                    <a:pt x="2097835" y="1345251"/>
                    <a:pt x="2091562" y="1347850"/>
                    <a:pt x="2085020" y="1347850"/>
                  </a:cubicBezTo>
                  <a:lnTo>
                    <a:pt x="24664" y="1347850"/>
                  </a:lnTo>
                  <a:cubicBezTo>
                    <a:pt x="18123" y="1347850"/>
                    <a:pt x="11849" y="1345251"/>
                    <a:pt x="7224" y="1340626"/>
                  </a:cubicBezTo>
                  <a:cubicBezTo>
                    <a:pt x="2599" y="1336001"/>
                    <a:pt x="0" y="1329727"/>
                    <a:pt x="0" y="1323186"/>
                  </a:cubicBezTo>
                  <a:lnTo>
                    <a:pt x="0" y="24664"/>
                  </a:lnTo>
                  <a:cubicBezTo>
                    <a:pt x="0" y="18123"/>
                    <a:pt x="2599" y="11849"/>
                    <a:pt x="7224" y="7224"/>
                  </a:cubicBezTo>
                  <a:cubicBezTo>
                    <a:pt x="11849" y="2599"/>
                    <a:pt x="18123" y="0"/>
                    <a:pt x="24664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109684" cy="1385950"/>
            </a:xfrm>
            <a:prstGeom prst="rect">
              <a:avLst/>
            </a:prstGeom>
          </p:spPr>
          <p:txBody>
            <a:bodyPr lIns="39813" tIns="39813" rIns="39813" bIns="3981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570071" y="4534465"/>
            <a:ext cx="5531930" cy="245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6" algn="l">
              <a:lnSpc>
                <a:spcPts val="3253"/>
              </a:lnSpc>
              <a:buFont typeface="Arial"/>
              <a:buChar char="•"/>
            </a:pPr>
            <a:r>
              <a:rPr lang="en-US" sz="232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Before user plays, AI runs a simulation.</a:t>
            </a:r>
          </a:p>
          <a:p>
            <a:pPr marL="501791" lvl="1" indent="-250896" algn="l">
              <a:lnSpc>
                <a:spcPts val="3253"/>
              </a:lnSpc>
              <a:buFont typeface="Arial"/>
              <a:buChar char="•"/>
            </a:pPr>
            <a:r>
              <a:rPr lang="en-US" sz="232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It clones the board, places your number and runs the AC-3 check.</a:t>
            </a:r>
          </a:p>
          <a:p>
            <a:pPr marL="501791" lvl="1" indent="-250896" algn="l">
              <a:lnSpc>
                <a:spcPts val="3253"/>
              </a:lnSpc>
              <a:spcBef>
                <a:spcPct val="0"/>
              </a:spcBef>
              <a:buFont typeface="Arial"/>
              <a:buChar char="•"/>
            </a:pPr>
            <a:r>
              <a:rPr lang="en-US" sz="232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If the check fails, it warns the user.</a:t>
            </a:r>
          </a:p>
          <a:p>
            <a:pPr algn="l">
              <a:lnSpc>
                <a:spcPts val="3253"/>
              </a:lnSpc>
              <a:spcBef>
                <a:spcPct val="0"/>
              </a:spcBef>
            </a:pPr>
            <a:endParaRPr lang="en-US" sz="2324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3792307" y="7612033"/>
            <a:ext cx="10703387" cy="1166395"/>
          </a:xfrm>
          <a:custGeom>
            <a:avLst/>
            <a:gdLst/>
            <a:ahLst/>
            <a:cxnLst/>
            <a:rect l="l" t="t" r="r" b="b"/>
            <a:pathLst>
              <a:path w="10703387" h="1166395">
                <a:moveTo>
                  <a:pt x="0" y="0"/>
                </a:moveTo>
                <a:lnTo>
                  <a:pt x="10703386" y="0"/>
                </a:lnTo>
                <a:lnTo>
                  <a:pt x="10703386" y="1166395"/>
                </a:lnTo>
                <a:lnTo>
                  <a:pt x="0" y="1166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24" name="Freeform 24"/>
          <p:cNvSpPr/>
          <p:nvPr/>
        </p:nvSpPr>
        <p:spPr>
          <a:xfrm>
            <a:off x="3792307" y="8997503"/>
            <a:ext cx="10703387" cy="1166395"/>
          </a:xfrm>
          <a:custGeom>
            <a:avLst/>
            <a:gdLst/>
            <a:ahLst/>
            <a:cxnLst/>
            <a:rect l="l" t="t" r="r" b="b"/>
            <a:pathLst>
              <a:path w="10703387" h="1166395">
                <a:moveTo>
                  <a:pt x="0" y="0"/>
                </a:moveTo>
                <a:lnTo>
                  <a:pt x="10703386" y="0"/>
                </a:lnTo>
                <a:lnTo>
                  <a:pt x="10703386" y="1166395"/>
                </a:lnTo>
                <a:lnTo>
                  <a:pt x="0" y="1166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25" name="TextBox 25"/>
          <p:cNvSpPr txBox="1"/>
          <p:nvPr/>
        </p:nvSpPr>
        <p:spPr>
          <a:xfrm>
            <a:off x="4718768" y="912337"/>
            <a:ext cx="8850464" cy="68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6"/>
              </a:lnSpc>
              <a:spcBef>
                <a:spcPct val="0"/>
              </a:spcBef>
            </a:pPr>
            <a:r>
              <a:rPr lang="en-US" sz="3968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Hints &amp; Warnings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3476" flipV="1">
            <a:off x="-3837051" y="-2410997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15372182" y="7222393"/>
            <a:ext cx="6195600" cy="3384081"/>
          </a:xfrm>
          <a:custGeom>
            <a:avLst/>
            <a:gdLst/>
            <a:ahLst/>
            <a:cxnLst/>
            <a:rect l="l" t="t" r="r" b="b"/>
            <a:pathLst>
              <a:path w="6195600" h="3384081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b="-143185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4525413" y="935475"/>
            <a:ext cx="9237174" cy="810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9"/>
              </a:lnSpc>
            </a:pPr>
            <a:r>
              <a:rPr lang="en-US" sz="5699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Hint Generation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416" y="2095500"/>
            <a:ext cx="6858957" cy="740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2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355821" flipH="1" flipV="1">
            <a:off x="-3819711" y="-676055"/>
            <a:ext cx="9940582" cy="10671659"/>
          </a:xfrm>
          <a:custGeom>
            <a:avLst/>
            <a:gdLst/>
            <a:ahLst/>
            <a:cxnLst/>
            <a:rect l="l" t="t" r="r" b="b"/>
            <a:pathLst>
              <a:path w="9940582" h="10671659">
                <a:moveTo>
                  <a:pt x="9940582" y="10671659"/>
                </a:moveTo>
                <a:lnTo>
                  <a:pt x="0" y="10671659"/>
                </a:lnTo>
                <a:lnTo>
                  <a:pt x="0" y="0"/>
                </a:lnTo>
                <a:lnTo>
                  <a:pt x="9940582" y="0"/>
                </a:lnTo>
                <a:lnTo>
                  <a:pt x="9940582" y="10671659"/>
                </a:lnTo>
                <a:close/>
              </a:path>
            </a:pathLst>
          </a:custGeom>
          <a:blipFill>
            <a:blip r:embed="rId2"/>
            <a:stretch>
              <a:fillRect l="-54" r="-54"/>
            </a:stretch>
          </a:blipFill>
        </p:spPr>
        <p:txBody>
          <a:bodyPr/>
          <a:lstStyle/>
          <a:p>
            <a:endParaRPr lang="en-PK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65323"/>
              </p:ext>
            </p:extLst>
          </p:nvPr>
        </p:nvGraphicFramePr>
        <p:xfrm>
          <a:off x="1150580" y="3999994"/>
          <a:ext cx="15986840" cy="3756889"/>
        </p:xfrm>
        <a:graphic>
          <a:graphicData uri="http://schemas.openxmlformats.org/drawingml/2006/table">
            <a:tbl>
              <a:tblPr/>
              <a:tblGrid>
                <a:gridCol w="5267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9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0606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 dirty="0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Why JSON?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Lightweight, text-based, and crash-resistant, JSON provides a robust solution for data persistence.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283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Functionality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Persists user progress, including scores, time taken, and win rates, even after the application closes.</a:t>
                      </a:r>
                      <a:endParaRPr lang="en-US" sz="1100" dirty="0"/>
                    </a:p>
                    <a:p>
                      <a:pPr algn="ctr">
                        <a:lnSpc>
                          <a:spcPts val="2940"/>
                        </a:lnSpc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5753966" y="1246417"/>
            <a:ext cx="7487649" cy="75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THE DATA LAYER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3476" flipV="1">
            <a:off x="-3837051" y="-2410997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15372182" y="7222393"/>
            <a:ext cx="6195600" cy="3384081"/>
          </a:xfrm>
          <a:custGeom>
            <a:avLst/>
            <a:gdLst/>
            <a:ahLst/>
            <a:cxnLst/>
            <a:rect l="l" t="t" r="r" b="b"/>
            <a:pathLst>
              <a:path w="6195600" h="3384081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b="-143185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4525413" y="935475"/>
            <a:ext cx="9237174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9"/>
              </a:lnSpc>
            </a:pPr>
            <a:r>
              <a:rPr lang="en-US" sz="5699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JSON FILE FORMATS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885" y="2117862"/>
            <a:ext cx="5681988" cy="3880949"/>
          </a:xfrm>
          <a:prstGeom prst="rect">
            <a:avLst/>
          </a:prstGeom>
        </p:spPr>
      </p:pic>
      <p:sp>
        <p:nvSpPr>
          <p:cNvPr id="7" name="Freeform 4"/>
          <p:cNvSpPr/>
          <p:nvPr/>
        </p:nvSpPr>
        <p:spPr>
          <a:xfrm>
            <a:off x="3541673" y="6373285"/>
            <a:ext cx="11830509" cy="3264835"/>
          </a:xfrm>
          <a:custGeom>
            <a:avLst/>
            <a:gdLst/>
            <a:ahLst/>
            <a:cxnLst/>
            <a:rect l="l" t="t" r="r" b="b"/>
            <a:pathLst>
              <a:path w="11830509" h="3264835">
                <a:moveTo>
                  <a:pt x="0" y="0"/>
                </a:moveTo>
                <a:lnTo>
                  <a:pt x="11830509" y="0"/>
                </a:lnTo>
                <a:lnTo>
                  <a:pt x="11830509" y="3264835"/>
                </a:lnTo>
                <a:lnTo>
                  <a:pt x="0" y="32648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519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3014">
            <a:off x="10390308" y="-6185338"/>
            <a:ext cx="10128448" cy="10895890"/>
          </a:xfrm>
          <a:custGeom>
            <a:avLst/>
            <a:gdLst/>
            <a:ahLst/>
            <a:cxnLst/>
            <a:rect l="l" t="t" r="r" b="b"/>
            <a:pathLst>
              <a:path w="10128448" h="10895890">
                <a:moveTo>
                  <a:pt x="0" y="0"/>
                </a:moveTo>
                <a:lnTo>
                  <a:pt x="10128448" y="0"/>
                </a:lnTo>
                <a:lnTo>
                  <a:pt x="10128448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r="-157"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3" name="Group 3"/>
          <p:cNvGrpSpPr/>
          <p:nvPr/>
        </p:nvGrpSpPr>
        <p:grpSpPr>
          <a:xfrm>
            <a:off x="1998037" y="4313493"/>
            <a:ext cx="14330156" cy="650410"/>
            <a:chOff x="0" y="0"/>
            <a:chExt cx="3774197" cy="1713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74198" cy="171301"/>
            </a:xfrm>
            <a:custGeom>
              <a:avLst/>
              <a:gdLst/>
              <a:ahLst/>
              <a:cxnLst/>
              <a:rect l="l" t="t" r="r" b="b"/>
              <a:pathLst>
                <a:path w="3774198" h="171301">
                  <a:moveTo>
                    <a:pt x="32415" y="0"/>
                  </a:moveTo>
                  <a:lnTo>
                    <a:pt x="3741782" y="0"/>
                  </a:lnTo>
                  <a:cubicBezTo>
                    <a:pt x="3759685" y="0"/>
                    <a:pt x="3774198" y="14513"/>
                    <a:pt x="3774198" y="32415"/>
                  </a:cubicBezTo>
                  <a:lnTo>
                    <a:pt x="3774198" y="138886"/>
                  </a:lnTo>
                  <a:cubicBezTo>
                    <a:pt x="3774198" y="156789"/>
                    <a:pt x="3759685" y="171301"/>
                    <a:pt x="3741782" y="171301"/>
                  </a:cubicBezTo>
                  <a:lnTo>
                    <a:pt x="32415" y="171301"/>
                  </a:lnTo>
                  <a:cubicBezTo>
                    <a:pt x="14513" y="171301"/>
                    <a:pt x="0" y="156789"/>
                    <a:pt x="0" y="138886"/>
                  </a:cubicBezTo>
                  <a:lnTo>
                    <a:pt x="0" y="32415"/>
                  </a:lnTo>
                  <a:cubicBezTo>
                    <a:pt x="0" y="14513"/>
                    <a:pt x="14513" y="0"/>
                    <a:pt x="324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74197" cy="209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544667" y="443307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8"/>
                </a:lnTo>
                <a:lnTo>
                  <a:pt x="0" y="411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8754951" y="443307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8"/>
                </a:lnTo>
                <a:lnTo>
                  <a:pt x="0" y="411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8"/>
          <p:cNvSpPr/>
          <p:nvPr/>
        </p:nvSpPr>
        <p:spPr>
          <a:xfrm>
            <a:off x="14497597" y="443307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5" y="0"/>
                </a:lnTo>
                <a:lnTo>
                  <a:pt x="408165" y="411248"/>
                </a:lnTo>
                <a:lnTo>
                  <a:pt x="0" y="411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9" name="TextBox 9"/>
          <p:cNvSpPr txBox="1"/>
          <p:nvPr/>
        </p:nvSpPr>
        <p:spPr>
          <a:xfrm>
            <a:off x="2234713" y="5086350"/>
            <a:ext cx="3468831" cy="43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Achievements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2120" y="5807385"/>
            <a:ext cx="3253027" cy="4677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• Implemented CSP (AC-3) for sub-second puzzle solving.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• Created a Generator guaranteeing unique solutions.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• Built a responsive GUI with vertical scrolling and history.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028700"/>
            <a:ext cx="6109790" cy="366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2"/>
              </a:lnSpc>
            </a:pPr>
            <a:r>
              <a:rPr lang="en-US" sz="6411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 CONCLUSION  </a:t>
            </a:r>
          </a:p>
          <a:p>
            <a:pPr algn="l">
              <a:lnSpc>
                <a:spcPts val="7052"/>
              </a:lnSpc>
            </a:pPr>
            <a:r>
              <a:rPr lang="en-US" sz="6411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&amp;                                                   </a:t>
            </a:r>
          </a:p>
          <a:p>
            <a:pPr algn="l">
              <a:lnSpc>
                <a:spcPts val="7052"/>
              </a:lnSpc>
            </a:pPr>
            <a:r>
              <a:rPr lang="en-US" sz="6411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FUTURE SCOPE</a:t>
            </a:r>
          </a:p>
          <a:p>
            <a:pPr algn="l">
              <a:lnSpc>
                <a:spcPts val="7052"/>
              </a:lnSpc>
            </a:pPr>
            <a:endParaRPr lang="en-US" sz="6411" b="1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660800" y="5172782"/>
            <a:ext cx="3253027" cy="4560440"/>
            <a:chOff x="0" y="0"/>
            <a:chExt cx="4337369" cy="6080586"/>
          </a:xfrm>
        </p:grpSpPr>
        <p:sp>
          <p:nvSpPr>
            <p:cNvPr id="13" name="TextBox 13"/>
            <p:cNvSpPr txBox="1"/>
            <p:nvPr/>
          </p:nvSpPr>
          <p:spPr>
            <a:xfrm>
              <a:off x="43458" y="-57150"/>
              <a:ext cx="4293912" cy="556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FFD944"/>
                  </a:solidFill>
                  <a:latin typeface="Lato Bold"/>
                  <a:ea typeface="Lato Bold"/>
                  <a:cs typeface="Lato Bold"/>
                  <a:sym typeface="Lato Bold"/>
                </a:rPr>
                <a:t>Limitations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01055"/>
              <a:ext cx="4337369" cy="51795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• Expert puzzle generation is computationally expensive (1-2 seconds).</a:t>
              </a:r>
            </a:p>
            <a:p>
              <a:pPr algn="l">
                <a:lnSpc>
                  <a:spcPts val="3079"/>
                </a:lnSpc>
              </a:pPr>
              <a:endPara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• AI hints rely on raw logic, not human-named strategies (e.g. "X-Wing").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endPara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endPara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75166" y="5143500"/>
            <a:ext cx="3253027" cy="4560440"/>
            <a:chOff x="0" y="0"/>
            <a:chExt cx="4337369" cy="6080586"/>
          </a:xfrm>
        </p:grpSpPr>
        <p:sp>
          <p:nvSpPr>
            <p:cNvPr id="16" name="TextBox 16"/>
            <p:cNvSpPr txBox="1"/>
            <p:nvPr/>
          </p:nvSpPr>
          <p:spPr>
            <a:xfrm>
              <a:off x="43458" y="-57150"/>
              <a:ext cx="4293912" cy="556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FFD944"/>
                  </a:solidFill>
                  <a:latin typeface="Lato Bold"/>
                  <a:ea typeface="Lato Bold"/>
                  <a:cs typeface="Lato Bold"/>
                  <a:sym typeface="Lato Bold"/>
                </a:rPr>
                <a:t>Future Work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01055"/>
              <a:ext cx="4337369" cy="51795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• OCR Integration: Upload newspaper puzzles for digitization and solving.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endPara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2199" b="1">
                  <a:solidFill>
                    <a:srgbClr val="E5E1DA"/>
                  </a:solidFill>
                  <a:latin typeface="Lato Bold"/>
                  <a:ea typeface="Lato Bold"/>
                  <a:cs typeface="Lato Bold"/>
                  <a:sym typeface="Lato Bold"/>
                </a:rPr>
                <a:t>Advanced Tutorials:</a:t>
              </a:r>
              <a:r>
                <a:rPr lang="en-US" sz="21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Teach AI to recognize complex patterns for better coaching.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  <a:endPara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3235689" cy="995428"/>
            <a:chOff x="0" y="0"/>
            <a:chExt cx="852198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198" cy="262170"/>
            </a:xfrm>
            <a:custGeom>
              <a:avLst/>
              <a:gdLst/>
              <a:ahLst/>
              <a:cxnLst/>
              <a:rect l="l" t="t" r="r" b="b"/>
              <a:pathLst>
                <a:path w="852198" h="262170">
                  <a:moveTo>
                    <a:pt x="131085" y="0"/>
                  </a:moveTo>
                  <a:lnTo>
                    <a:pt x="721113" y="0"/>
                  </a:lnTo>
                  <a:cubicBezTo>
                    <a:pt x="793509" y="0"/>
                    <a:pt x="852198" y="58689"/>
                    <a:pt x="852198" y="131085"/>
                  </a:cubicBezTo>
                  <a:lnTo>
                    <a:pt x="852198" y="131085"/>
                  </a:lnTo>
                  <a:cubicBezTo>
                    <a:pt x="852198" y="203481"/>
                    <a:pt x="793509" y="262170"/>
                    <a:pt x="721113" y="262170"/>
                  </a:cubicBezTo>
                  <a:lnTo>
                    <a:pt x="131085" y="262170"/>
                  </a:lnTo>
                  <a:cubicBezTo>
                    <a:pt x="58689" y="262170"/>
                    <a:pt x="0" y="203481"/>
                    <a:pt x="0" y="131085"/>
                  </a:cubicBezTo>
                  <a:lnTo>
                    <a:pt x="0" y="131085"/>
                  </a:lnTo>
                  <a:cubicBezTo>
                    <a:pt x="0" y="58689"/>
                    <a:pt x="58689" y="0"/>
                    <a:pt x="1310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52198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71305" y="879197"/>
            <a:ext cx="528429" cy="528429"/>
          </a:xfrm>
          <a:custGeom>
            <a:avLst/>
            <a:gdLst/>
            <a:ahLst/>
            <a:cxnLst/>
            <a:rect l="l" t="t" r="r" b="b"/>
            <a:pathLst>
              <a:path w="528429" h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TextBox 6"/>
          <p:cNvSpPr txBox="1"/>
          <p:nvPr/>
        </p:nvSpPr>
        <p:spPr>
          <a:xfrm>
            <a:off x="3505200" y="3365241"/>
            <a:ext cx="12177735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!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96669" y="882426"/>
            <a:ext cx="4535372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GROUP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0" y="6725274"/>
            <a:ext cx="11411477" cy="831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for your time and attention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876</Words>
  <Application>Microsoft Office PowerPoint</Application>
  <PresentationFormat>Custom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Lato</vt:lpstr>
      <vt:lpstr>Arial</vt:lpstr>
      <vt:lpstr>Calibri</vt:lpstr>
      <vt:lpstr>Lato Bold</vt:lpstr>
      <vt:lpstr>Poppins</vt:lpstr>
      <vt:lpstr>Inter Medium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Diversity in the Digital Age</dc:title>
  <cp:lastModifiedBy>syed turrab</cp:lastModifiedBy>
  <cp:revision>16</cp:revision>
  <dcterms:created xsi:type="dcterms:W3CDTF">2006-08-16T00:00:00Z</dcterms:created>
  <dcterms:modified xsi:type="dcterms:W3CDTF">2026-02-05T08:24:58Z</dcterms:modified>
  <dc:identifier>DAG6Ne6uAV4</dc:identifier>
</cp:coreProperties>
</file>